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147483177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417"/>
    <a:srgbClr val="FDDCD7"/>
    <a:srgbClr val="FDB601"/>
    <a:srgbClr val="FDECC7"/>
    <a:srgbClr val="FEECC4"/>
    <a:srgbClr val="DFF0E3"/>
    <a:srgbClr val="009031"/>
    <a:srgbClr val="028E31"/>
    <a:srgbClr val="E4414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42B5E9-72C8-4DE8-A61F-2E2B3B1090C1}" v="1" dt="2026-06-17T20:17:14.307"/>
    <p1510:client id="{A3D00937-9D3E-4629-AC5A-501C2AA0945F}" v="111" dt="2026-06-17T05:14:21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6E46A-4C6B-4022-8F80-B3948DC7EE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5DDE4-860D-458F-8D71-1341538B5C6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423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5DDE4-860D-458F-8D71-1341538B5C60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358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EDE5B-20A3-0614-A88B-30E85CE15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55BFA5-FE0F-51BC-592A-DBBC399A1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F9568F-C44B-E5E0-665D-9FF73429F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EE67CE-D704-882B-B47B-CC6FBE9B3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5DDE4-860D-458F-8D71-1341538B5C60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9643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021ED-7093-12AC-55C1-3F874C812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0268D2-7BD5-BC35-E8AA-A35457C8B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358321-5D44-7FAD-2984-FDB92C6A3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E007B7-9383-98F5-0A0D-58AC2A7AD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5DDE4-860D-458F-8D71-1341538B5C60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4560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A8B63-4464-3412-961C-0D082682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9A9C95-3E5B-603F-AE4C-9FE8069CF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2812650-C94C-8D44-2DA5-F03C68698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29C211-329D-B2EA-28BC-95A9315F2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5DDE4-860D-458F-8D71-1341538B5C60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8900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210B-2974-8843-6F1A-80D805259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9FE450-A881-4F15-A32D-EC8EFB0F5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B9FA9E-6F92-A5FF-C170-B17B55E9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4E1E28-6DA9-22E1-B893-78652C819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5DDE4-860D-458F-8D71-1341538B5C60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4605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D77C6-81DE-884B-D89D-8830ADA9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5E4A3E3-580E-14E0-DF2A-466F60ADF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EA9EAC-54E1-EF9D-1918-399CDCBC7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9EDF9C-69DD-503C-34CA-48F1BD951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5DDE4-860D-458F-8D71-1341538B5C60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632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36CCC-7108-1A77-743E-4C4DFD742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F029C9-5077-89D8-9C1C-48C22E44C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1F622C-8565-A183-FA5B-23CC7E38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09ABF2-3238-A885-C55A-5E56056D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69ABA-E8EC-B73F-5120-A52B72785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583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B08E6-C694-4881-9FA7-7454EFAD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1E0852-57AA-2928-E639-9E35334FB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91F89C-E942-13BF-21AE-8E7C9041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230531-73AB-D178-168C-2CFD61CF5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737992-CE85-C262-3C7F-69EDB44B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321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A48B3-11DF-8832-FFA9-C6CF6100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C4133F-3345-7B36-7C95-604441C06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C92D33-9C6A-EF68-2E4F-F86BB1ED1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18F7A6-84FC-D2FE-0D44-FC404C4C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3C9B6E-CF9A-E9C8-BCDF-53488E1A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8317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76A19-2DD8-97B8-65C6-571164A7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424FFC-8636-CB1B-BDCD-94D660DE7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67911-5DBB-4C44-4110-F752E9CEC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972303-583C-6046-DEC0-E39278D4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2996D1-9BEC-5BF4-5BCC-564B64CA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58630A-1AB5-1669-04BE-823C5576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67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9B2D1-2A3E-B459-9F63-D744343DE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4F8852-70DD-C7D8-FED8-23680D7F1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A82167-9C67-D059-D3D4-9D26763FE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8EE7B3-E28E-C567-23CD-E31A381D2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D83378-4D26-0005-4702-63C25A274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46BE19-5BDE-2930-919B-CBF4D9270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31D903-AA83-48CF-DC69-9369457B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291FF3-0107-43B5-1C74-DA10BAE9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5465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988B9-7211-D10A-51D1-EF97D794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1660081-A5D3-708F-EE39-CB5AB3CC3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E62893-8628-066C-6E47-808BC605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A5048A-E041-FAAA-D96D-F138A829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556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A4BB03-6E9C-3E35-9A63-8C2C85E7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1BF304F-D009-1001-0E00-E20C9927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49F007-8873-C5F1-7394-2D4A2C03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8930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501F3-4F52-6051-AD81-70ED882F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0DE92A-7758-D49A-21A9-31E760449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D364FF-9F93-64A7-156A-9A7A9F54F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503E7B-F850-8BAD-D31A-0569DC77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409FA5-A053-116C-153E-4291F6E9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17B7B1-C867-B654-065F-DC1A5BF3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727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595DF-147C-59EB-35FA-819CFE13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74FD9D-FC13-A784-8506-AF77FE509F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2E442A4-E39C-48CC-775E-45ED99713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F6C2D0-A1D0-7B3B-D42B-706D1F0C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D14DF6-8D75-EC0C-2E81-8DECD83A8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F6C84E-BD95-977A-0054-1C00B34D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572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19EDF-95AB-5DA3-03B4-B5B30890F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58B9DF-CE68-E248-6447-A9D8024C6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BD8913-6FE0-B517-F72D-A7D93167C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3AD9E1-B814-9E2C-B82B-8D085791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DD9A17-216D-F7E9-3288-DA9C25B4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9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5D5B5E-3DBA-360B-CE90-2E01C886A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B424B7-A5A7-F1F2-515F-1EDF7402E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0F6E4E-6CE4-ED92-85AF-57F36CEBF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25F123-8310-FEF4-72F1-630FC85A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8331D-B46C-055B-02F5-E9E988A8C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3495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335C3C2-DA52-4049-A57C-59A9F30C7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6994"/>
          </a:xfrm>
        </p:spPr>
        <p:txBody>
          <a:bodyPr/>
          <a:lstStyle>
            <a:lvl1pPr>
              <a:defRPr>
                <a:solidFill>
                  <a:srgbClr val="009421"/>
                </a:solidFill>
                <a:latin typeface="Brevia Bold" panose="02000503030000020004" pitchFamily="2" charset="0"/>
              </a:defRPr>
            </a:lvl1pPr>
          </a:lstStyle>
          <a:p>
            <a:endParaRPr lang="es-PE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B943E9D4-92B9-464F-907C-035729C25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30190"/>
            <a:ext cx="9144000" cy="3654974"/>
          </a:xfrm>
        </p:spPr>
        <p:txBody>
          <a:bodyPr/>
          <a:lstStyle>
            <a:lvl1pPr>
              <a:defRPr>
                <a:solidFill>
                  <a:srgbClr val="009421"/>
                </a:solidFill>
                <a:latin typeface="Brevia Medium" panose="02000503030000020004" pitchFamily="2" charset="0"/>
              </a:defRPr>
            </a:lvl1pPr>
          </a:lstStyle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96933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E78384-3FB8-DD25-7C12-4F06E34D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C64C28-9F01-A4E3-83D8-A9BA33D75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2B863D-83B0-F58E-1776-F03CDC6B6D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B4FF6-4CFF-4CE7-887C-9B3DA2E178F5}" type="datetimeFigureOut">
              <a:rPr lang="es-PE" smtClean="0"/>
              <a:t>18/06/2026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240DFE-5BB2-8190-3621-D03F8141C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F55B84-3163-9FE2-E219-38D8A9029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7B007-C0BE-449B-B711-86F1444A9ED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6451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5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2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1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1.png"/><Relationship Id="rId5" Type="http://schemas.openxmlformats.org/officeDocument/2006/relationships/image" Target="../media/image46.png"/><Relationship Id="rId10" Type="http://schemas.openxmlformats.org/officeDocument/2006/relationships/image" Target="../media/image22.png"/><Relationship Id="rId4" Type="http://schemas.openxmlformats.org/officeDocument/2006/relationships/image" Target="../media/image45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o mibanco peru PNG HD Vector - Descarga Rápida">
            <a:extLst>
              <a:ext uri="{FF2B5EF4-FFF2-40B4-BE49-F238E27FC236}">
                <a16:creationId xmlns:a16="http://schemas.microsoft.com/office/drawing/2014/main" id="{E55C98DB-2103-12D7-6095-648895644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08" y="268444"/>
            <a:ext cx="1403542" cy="73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6CCCAD2-81A4-8AFB-00BA-81866CC6E8A2}"/>
              </a:ext>
            </a:extLst>
          </p:cNvPr>
          <p:cNvSpPr txBox="1"/>
          <p:nvPr/>
        </p:nvSpPr>
        <p:spPr>
          <a:xfrm>
            <a:off x="555567" y="1392720"/>
            <a:ext cx="469270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800" b="1" dirty="0" err="1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IAthon</a:t>
            </a:r>
            <a:r>
              <a:rPr lang="es-PE" sz="38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Ulima:</a:t>
            </a:r>
          </a:p>
          <a:p>
            <a:r>
              <a:rPr lang="es-PE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Reinventando la Cobranza Inteligente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959A12-72D4-FAD4-7A8C-A4DFCDD44AC2}"/>
              </a:ext>
            </a:extLst>
          </p:cNvPr>
          <p:cNvSpPr txBox="1"/>
          <p:nvPr/>
        </p:nvSpPr>
        <p:spPr>
          <a:xfrm>
            <a:off x="555567" y="3786401"/>
            <a:ext cx="4908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¿Cómo usar la inteligencia artificial </a:t>
            </a:r>
          </a:p>
          <a:p>
            <a:r>
              <a:rPr lang="es-PE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decidir </a:t>
            </a:r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cuándo</a:t>
            </a:r>
            <a:r>
              <a:rPr lang="es-PE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cómo</a:t>
            </a:r>
            <a:r>
              <a:rPr lang="es-PE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</a:t>
            </a:r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quién </a:t>
            </a:r>
            <a:r>
              <a:rPr lang="es-PE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cobrar?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D75ED3-5F3B-B660-C49D-58433BAAE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432" y="1019875"/>
            <a:ext cx="4597636" cy="398800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0EC3B9A-1323-71F6-9DAC-60BF62667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15" y="5484330"/>
            <a:ext cx="539778" cy="52072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EA2A59B-BB93-3820-5DE0-D3EA3162DDC5}"/>
              </a:ext>
            </a:extLst>
          </p:cNvPr>
          <p:cNvSpPr txBox="1"/>
          <p:nvPr/>
        </p:nvSpPr>
        <p:spPr>
          <a:xfrm>
            <a:off x="1285805" y="5349861"/>
            <a:ext cx="2794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Objetivo: </a:t>
            </a:r>
            <a:r>
              <a:rPr lang="es-P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recuperar más, reducir gastos, y mejorar la experiencia del cliente.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71785AC9-76D8-8DAD-CA0D-2878131ADAD1}"/>
              </a:ext>
            </a:extLst>
          </p:cNvPr>
          <p:cNvSpPr/>
          <p:nvPr/>
        </p:nvSpPr>
        <p:spPr>
          <a:xfrm>
            <a:off x="555567" y="5172075"/>
            <a:ext cx="3556012" cy="1276350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E81531A7-BB2F-B554-2AD9-EF4F047C6AE4}"/>
              </a:ext>
            </a:extLst>
          </p:cNvPr>
          <p:cNvSpPr/>
          <p:nvPr/>
        </p:nvSpPr>
        <p:spPr>
          <a:xfrm>
            <a:off x="6464271" y="5408972"/>
            <a:ext cx="3851304" cy="767007"/>
          </a:xfrm>
          <a:prstGeom prst="roundRect">
            <a:avLst/>
          </a:prstGeom>
          <a:solidFill>
            <a:srgbClr val="F0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22C89D-CCAE-71E2-04E9-CE0913CF556D}"/>
              </a:ext>
            </a:extLst>
          </p:cNvPr>
          <p:cNvSpPr txBox="1"/>
          <p:nvPr/>
        </p:nvSpPr>
        <p:spPr>
          <a:xfrm>
            <a:off x="7181780" y="5607809"/>
            <a:ext cx="2794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 RECUPERACIÓN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93007A4-E391-B737-D347-52FF722B043D}"/>
              </a:ext>
            </a:extLst>
          </p:cNvPr>
          <p:cNvCxnSpPr/>
          <p:nvPr/>
        </p:nvCxnSpPr>
        <p:spPr>
          <a:xfrm>
            <a:off x="709515" y="3533775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A8F89B0-2042-440D-88CC-5B5015386DD6}"/>
              </a:ext>
            </a:extLst>
          </p:cNvPr>
          <p:cNvSpPr txBox="1"/>
          <p:nvPr/>
        </p:nvSpPr>
        <p:spPr>
          <a:xfrm>
            <a:off x="9829800" y="319073"/>
            <a:ext cx="1930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PE" sz="4800" b="1" dirty="0">
                <a:solidFill>
                  <a:srgbClr val="F7D41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Reto 1</a:t>
            </a:r>
          </a:p>
        </p:txBody>
      </p:sp>
    </p:spTree>
    <p:extLst>
      <p:ext uri="{BB962C8B-B14F-4D97-AF65-F5344CB8AC3E}">
        <p14:creationId xmlns:p14="http://schemas.microsoft.com/office/powerpoint/2010/main" val="144520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5061E8-2588-49A6-0A06-A67902D4B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20" y="495593"/>
            <a:ext cx="4553184" cy="47119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CE006B-3ABB-45B4-41DC-7F8484AFB473}"/>
              </a:ext>
            </a:extLst>
          </p:cNvPr>
          <p:cNvSpPr txBox="1"/>
          <p:nvPr/>
        </p:nvSpPr>
        <p:spPr>
          <a:xfrm>
            <a:off x="317442" y="373545"/>
            <a:ext cx="469270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Entender el reto</a:t>
            </a:r>
          </a:p>
          <a:p>
            <a:r>
              <a:rPr lang="es-PE" sz="38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 de la cobranza</a:t>
            </a:r>
            <a:endParaRPr lang="es-PE" sz="3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5A31189-1D17-6553-1782-04628FE4B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42" y="2374850"/>
            <a:ext cx="901746" cy="268618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A696068-A44B-EF15-79F4-0ACBBE4EC88B}"/>
              </a:ext>
            </a:extLst>
          </p:cNvPr>
          <p:cNvSpPr txBox="1"/>
          <p:nvPr/>
        </p:nvSpPr>
        <p:spPr>
          <a:xfrm>
            <a:off x="1308396" y="2350594"/>
            <a:ext cx="2107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 clasificamos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 según riesgo de mora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A03532-ABD0-9239-AB5C-97454DF916AC}"/>
              </a:ext>
            </a:extLst>
          </p:cNvPr>
          <p:cNvSpPr txBox="1"/>
          <p:nvPr/>
        </p:nvSpPr>
        <p:spPr>
          <a:xfrm>
            <a:off x="1308396" y="3330141"/>
            <a:ext cx="26699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Tenemos varios canales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WhatsApp, llamadas, SMS, </a:t>
            </a:r>
            <a:r>
              <a:rPr lang="es-PE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bots</a:t>
            </a:r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Campo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62A7A41-A0FA-2EFF-BCDC-B8A8D93DC772}"/>
              </a:ext>
            </a:extLst>
          </p:cNvPr>
          <p:cNvSpPr txBox="1"/>
          <p:nvPr/>
        </p:nvSpPr>
        <p:spPr>
          <a:xfrm>
            <a:off x="1308396" y="4309688"/>
            <a:ext cx="3076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oportunidad 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cuál canal usar, cuándo usarlo y cuántas veces insistir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3700454-1ED1-D534-E5F1-0C41F29A12B6}"/>
              </a:ext>
            </a:extLst>
          </p:cNvPr>
          <p:cNvCxnSpPr/>
          <p:nvPr/>
        </p:nvCxnSpPr>
        <p:spPr>
          <a:xfrm>
            <a:off x="460089" y="1999347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A75698B-7E4B-0A01-10B9-CAF3F36FF9C2}"/>
              </a:ext>
            </a:extLst>
          </p:cNvPr>
          <p:cNvSpPr txBox="1"/>
          <p:nvPr/>
        </p:nvSpPr>
        <p:spPr>
          <a:xfrm>
            <a:off x="2556151" y="5651619"/>
            <a:ext cx="7067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Pregunta del reto: </a:t>
            </a:r>
          </a:p>
          <a:p>
            <a:r>
              <a:rPr lang="es-P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¿Cómo decidir el mejor canal y momento para cobrar?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024005B-A0E5-3971-306C-B8BB9295D4D4}"/>
              </a:ext>
            </a:extLst>
          </p:cNvPr>
          <p:cNvSpPr/>
          <p:nvPr/>
        </p:nvSpPr>
        <p:spPr>
          <a:xfrm>
            <a:off x="1454138" y="5511735"/>
            <a:ext cx="9251962" cy="1169917"/>
          </a:xfrm>
          <a:prstGeom prst="roundRect">
            <a:avLst/>
          </a:prstGeom>
          <a:noFill/>
          <a:ln>
            <a:solidFill>
              <a:srgbClr val="0090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3816E79B-1FA2-E002-2D3D-6BF3E89AF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900" y="5759909"/>
            <a:ext cx="520727" cy="53977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247F9D7-6105-23E7-0428-FC1724CF8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482" y="5800405"/>
            <a:ext cx="609631" cy="533427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AC5535CC-55E7-8BEC-E6FA-F07EA059B49E}"/>
              </a:ext>
            </a:extLst>
          </p:cNvPr>
          <p:cNvCxnSpPr>
            <a:cxnSpLocks/>
          </p:cNvCxnSpPr>
          <p:nvPr/>
        </p:nvCxnSpPr>
        <p:spPr>
          <a:xfrm>
            <a:off x="2384139" y="5675828"/>
            <a:ext cx="0" cy="79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Logo mibanco peru PNG HD Vector - Descarga Rápida">
            <a:extLst>
              <a:ext uri="{FF2B5EF4-FFF2-40B4-BE49-F238E27FC236}">
                <a16:creationId xmlns:a16="http://schemas.microsoft.com/office/drawing/2014/main" id="{1605B0A9-7F73-C328-E806-F0BD72816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519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5BE39-3048-92A4-8D7B-51E55C4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85B8D394-8190-7F45-5CAE-77DC82904393}"/>
              </a:ext>
            </a:extLst>
          </p:cNvPr>
          <p:cNvSpPr/>
          <p:nvPr/>
        </p:nvSpPr>
        <p:spPr>
          <a:xfrm>
            <a:off x="6096000" y="1685635"/>
            <a:ext cx="5809550" cy="37501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F7C66DCF-2A71-990A-7C1F-8C69F7893355}"/>
              </a:ext>
            </a:extLst>
          </p:cNvPr>
          <p:cNvSpPr/>
          <p:nvPr/>
        </p:nvSpPr>
        <p:spPr>
          <a:xfrm>
            <a:off x="657602" y="5558919"/>
            <a:ext cx="6534823" cy="978789"/>
          </a:xfrm>
          <a:prstGeom prst="roundRect">
            <a:avLst/>
          </a:prstGeom>
          <a:solidFill>
            <a:srgbClr val="F0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C8A0951D-0A51-0A85-BA6D-807D7756BA7A}"/>
              </a:ext>
            </a:extLst>
          </p:cNvPr>
          <p:cNvSpPr/>
          <p:nvPr/>
        </p:nvSpPr>
        <p:spPr>
          <a:xfrm>
            <a:off x="6844616" y="4380127"/>
            <a:ext cx="1827468" cy="70294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11AE8F-635A-4B55-A40F-F3F144CA294B}"/>
              </a:ext>
            </a:extLst>
          </p:cNvPr>
          <p:cNvSpPr txBox="1"/>
          <p:nvPr/>
        </p:nvSpPr>
        <p:spPr>
          <a:xfrm>
            <a:off x="317441" y="373545"/>
            <a:ext cx="82550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Nuestro objetivo: usar IA para </a:t>
            </a:r>
            <a:r>
              <a:rPr lang="es-PE" sz="38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optimizar contactos y reducir costos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EAF97C-A9FC-B174-A9EB-D6900A341779}"/>
              </a:ext>
            </a:extLst>
          </p:cNvPr>
          <p:cNvSpPr txBox="1"/>
          <p:nvPr/>
        </p:nvSpPr>
        <p:spPr>
          <a:xfrm>
            <a:off x="1249924" y="1906130"/>
            <a:ext cx="3076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</a:p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Usar IA para optimizar la gestión</a:t>
            </a:r>
            <a:endParaRPr lang="es-PE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5ED41FD-112B-DE07-D6B3-9F15C97D8F19}"/>
              </a:ext>
            </a:extLst>
          </p:cNvPr>
          <p:cNvSpPr txBox="1"/>
          <p:nvPr/>
        </p:nvSpPr>
        <p:spPr>
          <a:xfrm>
            <a:off x="1154422" y="3003542"/>
            <a:ext cx="2669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buscamos?</a:t>
            </a:r>
            <a:endParaRPr lang="es-PE" sz="1600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BD2344-3389-8FA8-B0D8-699D64EE1F7D}"/>
              </a:ext>
            </a:extLst>
          </p:cNvPr>
          <p:cNvSpPr txBox="1"/>
          <p:nvPr/>
        </p:nvSpPr>
        <p:spPr>
          <a:xfrm>
            <a:off x="1583030" y="4691226"/>
            <a:ext cx="3076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Reducir 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&gt;10% costo de cobranza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0F9E9BA-BEA5-4349-7AB3-6B7E21870600}"/>
              </a:ext>
            </a:extLst>
          </p:cNvPr>
          <p:cNvCxnSpPr>
            <a:cxnSpLocks/>
          </p:cNvCxnSpPr>
          <p:nvPr/>
        </p:nvCxnSpPr>
        <p:spPr>
          <a:xfrm>
            <a:off x="450564" y="1740204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3898FDF-CC9E-183F-3984-211632762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33" y="1844980"/>
            <a:ext cx="768389" cy="8001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3016F83-4D2F-57FB-614A-40106ED1E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85" y="2987223"/>
            <a:ext cx="711237" cy="6858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1A65032-99E1-8F32-34F3-7FA2730F5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06" y="5736907"/>
            <a:ext cx="501676" cy="52072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E71108C-67E8-15D2-ABA6-B87DC76DFA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418" y="3514244"/>
            <a:ext cx="228612" cy="209561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F5051443-9D9E-DB30-1948-12EBCCDF3B61}"/>
              </a:ext>
            </a:extLst>
          </p:cNvPr>
          <p:cNvSpPr txBox="1"/>
          <p:nvPr/>
        </p:nvSpPr>
        <p:spPr>
          <a:xfrm>
            <a:off x="1583030" y="3857238"/>
            <a:ext cx="3255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Mantener niveles de 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Recuperación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1D516B5-DCB6-E302-7E81-1108A2639C8C}"/>
              </a:ext>
            </a:extLst>
          </p:cNvPr>
          <p:cNvSpPr txBox="1"/>
          <p:nvPr/>
        </p:nvSpPr>
        <p:spPr>
          <a:xfrm>
            <a:off x="1583030" y="4274232"/>
            <a:ext cx="3255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Personalizar</a:t>
            </a:r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contacto por cliente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FCF6175-380D-C724-9D53-9887F2AE701F}"/>
              </a:ext>
            </a:extLst>
          </p:cNvPr>
          <p:cNvSpPr txBox="1"/>
          <p:nvPr/>
        </p:nvSpPr>
        <p:spPr>
          <a:xfrm>
            <a:off x="1583030" y="3440244"/>
            <a:ext cx="3255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Enfoque en 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digital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28F33CC9-6D3E-15F6-B663-AA0140BC6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418" y="3912204"/>
            <a:ext cx="228612" cy="20956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A5E7CE99-A3E4-0F2B-26AB-907300816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418" y="4337001"/>
            <a:ext cx="228612" cy="209561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2D346B38-B4CD-D0F6-C5AC-40FCCB48E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418" y="4742858"/>
            <a:ext cx="228612" cy="209561"/>
          </a:xfrm>
          <a:prstGeom prst="rect">
            <a:avLst/>
          </a:prstGeom>
        </p:spPr>
      </p:pic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ACA07BE5-64DB-0239-5F8E-EB43026B77EF}"/>
              </a:ext>
            </a:extLst>
          </p:cNvPr>
          <p:cNvCxnSpPr>
            <a:cxnSpLocks/>
          </p:cNvCxnSpPr>
          <p:nvPr/>
        </p:nvCxnSpPr>
        <p:spPr>
          <a:xfrm>
            <a:off x="450564" y="2773137"/>
            <a:ext cx="498187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AF12288-5DCE-3128-5C80-D1D7566D9B51}"/>
              </a:ext>
            </a:extLst>
          </p:cNvPr>
          <p:cNvSpPr/>
          <p:nvPr/>
        </p:nvSpPr>
        <p:spPr>
          <a:xfrm>
            <a:off x="1489162" y="5689825"/>
            <a:ext cx="5406208" cy="6826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b="1" dirty="0">
                <a:solidFill>
                  <a:srgbClr val="009031"/>
                </a:solidFill>
              </a:rPr>
              <a:t>La IA nos ayudará</a:t>
            </a:r>
          </a:p>
          <a:p>
            <a:r>
              <a:rPr lang="es-PE" dirty="0">
                <a:solidFill>
                  <a:schemeClr val="tx1"/>
                </a:solidFill>
              </a:rPr>
              <a:t>a decidir cuándo, por qué canal y a quién contactar</a:t>
            </a: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4B60DDF-C899-7944-8167-E22F1A335C78}"/>
              </a:ext>
            </a:extLst>
          </p:cNvPr>
          <p:cNvCxnSpPr>
            <a:cxnSpLocks/>
          </p:cNvCxnSpPr>
          <p:nvPr/>
        </p:nvCxnSpPr>
        <p:spPr>
          <a:xfrm>
            <a:off x="1396027" y="5706759"/>
            <a:ext cx="0" cy="612000"/>
          </a:xfrm>
          <a:prstGeom prst="line">
            <a:avLst/>
          </a:prstGeom>
          <a:ln w="1905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Imagen 38">
            <a:extLst>
              <a:ext uri="{FF2B5EF4-FFF2-40B4-BE49-F238E27FC236}">
                <a16:creationId xmlns:a16="http://schemas.microsoft.com/office/drawing/2014/main" id="{85B5EBCD-AB46-B782-CD73-70C533FE0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4730" y="2479063"/>
            <a:ext cx="1949550" cy="1543129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511BECCC-3F34-F78B-1574-0ADCBB9077DB}"/>
              </a:ext>
            </a:extLst>
          </p:cNvPr>
          <p:cNvGrpSpPr/>
          <p:nvPr/>
        </p:nvGrpSpPr>
        <p:grpSpPr>
          <a:xfrm>
            <a:off x="9479376" y="2587074"/>
            <a:ext cx="2325681" cy="1397072"/>
            <a:chOff x="9030875" y="2515132"/>
            <a:chExt cx="2325681" cy="1397072"/>
          </a:xfrm>
        </p:grpSpPr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EB51C981-5A49-1BA2-F9E7-FA725E363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30875" y="2515132"/>
              <a:ext cx="2006703" cy="1397072"/>
            </a:xfrm>
            <a:prstGeom prst="rect">
              <a:avLst/>
            </a:prstGeom>
          </p:spPr>
        </p:pic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C1C1397A-3A1B-B253-5431-35F6A0A93E21}"/>
                </a:ext>
              </a:extLst>
            </p:cNvPr>
            <p:cNvSpPr/>
            <p:nvPr/>
          </p:nvSpPr>
          <p:spPr>
            <a:xfrm>
              <a:off x="10806223" y="3258287"/>
              <a:ext cx="550333" cy="3414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A2D4F1A3-6441-5690-C37A-6EEE60CCCAA2}"/>
              </a:ext>
            </a:extLst>
          </p:cNvPr>
          <p:cNvSpPr/>
          <p:nvPr/>
        </p:nvSpPr>
        <p:spPr>
          <a:xfrm>
            <a:off x="9577800" y="4358878"/>
            <a:ext cx="1828800" cy="702943"/>
          </a:xfrm>
          <a:prstGeom prst="roundRect">
            <a:avLst/>
          </a:prstGeom>
          <a:solidFill>
            <a:srgbClr val="C6E4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74DE4789-F152-F279-5FDC-68AA0D9CB54B}"/>
              </a:ext>
            </a:extLst>
          </p:cNvPr>
          <p:cNvSpPr/>
          <p:nvPr/>
        </p:nvSpPr>
        <p:spPr>
          <a:xfrm>
            <a:off x="7072570" y="4365711"/>
            <a:ext cx="1529667" cy="6826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Más costo,</a:t>
            </a:r>
          </a:p>
          <a:p>
            <a:r>
              <a:rPr lang="es-P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mismo resultado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97EB34CC-3FBE-642A-2F12-0A6867DCB4B8}"/>
              </a:ext>
            </a:extLst>
          </p:cNvPr>
          <p:cNvSpPr/>
          <p:nvPr/>
        </p:nvSpPr>
        <p:spPr>
          <a:xfrm>
            <a:off x="9700649" y="4365711"/>
            <a:ext cx="1745407" cy="68262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Menor costo,</a:t>
            </a:r>
          </a:p>
          <a:p>
            <a:r>
              <a:rPr lang="es-P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Mayor recuperación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4DD4BFBA-3730-7562-44BF-CF070079C2C3}"/>
              </a:ext>
            </a:extLst>
          </p:cNvPr>
          <p:cNvSpPr/>
          <p:nvPr/>
        </p:nvSpPr>
        <p:spPr>
          <a:xfrm>
            <a:off x="6857315" y="3978875"/>
            <a:ext cx="869387" cy="3786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Costo</a:t>
            </a:r>
            <a:endParaRPr lang="es-PE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0FEFA09D-B4DF-BC3F-DE1B-C2DB42FE602D}"/>
              </a:ext>
            </a:extLst>
          </p:cNvPr>
          <p:cNvSpPr/>
          <p:nvPr/>
        </p:nvSpPr>
        <p:spPr>
          <a:xfrm>
            <a:off x="7583491" y="3978875"/>
            <a:ext cx="1270506" cy="3786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Recuperación</a:t>
            </a:r>
            <a:endParaRPr lang="es-PE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9797ED0E-8074-40EC-F5BA-20DDD5AAE2D0}"/>
              </a:ext>
            </a:extLst>
          </p:cNvPr>
          <p:cNvSpPr/>
          <p:nvPr/>
        </p:nvSpPr>
        <p:spPr>
          <a:xfrm>
            <a:off x="9577799" y="3978875"/>
            <a:ext cx="869387" cy="3786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Costo</a:t>
            </a:r>
            <a:endParaRPr lang="es-PE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12B2D4AD-94D4-0B80-19B7-EB8E6918D77A}"/>
              </a:ext>
            </a:extLst>
          </p:cNvPr>
          <p:cNvSpPr/>
          <p:nvPr/>
        </p:nvSpPr>
        <p:spPr>
          <a:xfrm>
            <a:off x="10464841" y="3978875"/>
            <a:ext cx="1270506" cy="37861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Recuperación</a:t>
            </a:r>
            <a:endParaRPr lang="es-PE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73979D9D-7F02-2E2D-1B0C-0F0F718265CB}"/>
              </a:ext>
            </a:extLst>
          </p:cNvPr>
          <p:cNvCxnSpPr>
            <a:cxnSpLocks/>
          </p:cNvCxnSpPr>
          <p:nvPr/>
        </p:nvCxnSpPr>
        <p:spPr>
          <a:xfrm flipH="1">
            <a:off x="9083454" y="2056365"/>
            <a:ext cx="4980" cy="319444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Imagen 52">
            <a:extLst>
              <a:ext uri="{FF2B5EF4-FFF2-40B4-BE49-F238E27FC236}">
                <a16:creationId xmlns:a16="http://schemas.microsoft.com/office/drawing/2014/main" id="{4F275719-8B6A-DC39-582F-E6714D5BC1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1099" y="3221442"/>
            <a:ext cx="444523" cy="444523"/>
          </a:xfrm>
          <a:prstGeom prst="rect">
            <a:avLst/>
          </a:prstGeom>
        </p:spPr>
      </p:pic>
      <p:grpSp>
        <p:nvGrpSpPr>
          <p:cNvPr id="65" name="Grupo 64">
            <a:extLst>
              <a:ext uri="{FF2B5EF4-FFF2-40B4-BE49-F238E27FC236}">
                <a16:creationId xmlns:a16="http://schemas.microsoft.com/office/drawing/2014/main" id="{12FE20F7-5D37-A030-56D6-AC71DEEC1197}"/>
              </a:ext>
            </a:extLst>
          </p:cNvPr>
          <p:cNvGrpSpPr/>
          <p:nvPr/>
        </p:nvGrpSpPr>
        <p:grpSpPr>
          <a:xfrm>
            <a:off x="7189491" y="1844980"/>
            <a:ext cx="1613689" cy="682628"/>
            <a:chOff x="6928988" y="1605585"/>
            <a:chExt cx="1613689" cy="682628"/>
          </a:xfrm>
        </p:grpSpPr>
        <p:sp>
          <p:nvSpPr>
            <p:cNvPr id="61" name="Rectángulo: esquinas redondeadas 60">
              <a:extLst>
                <a:ext uri="{FF2B5EF4-FFF2-40B4-BE49-F238E27FC236}">
                  <a16:creationId xmlns:a16="http://schemas.microsoft.com/office/drawing/2014/main" id="{F523A6D3-2152-6AA4-36E7-1F4DA7B8C1D8}"/>
                </a:ext>
              </a:extLst>
            </p:cNvPr>
            <p:cNvSpPr/>
            <p:nvPr/>
          </p:nvSpPr>
          <p:spPr>
            <a:xfrm>
              <a:off x="6928988" y="1779786"/>
              <a:ext cx="936000" cy="324000"/>
            </a:xfrm>
            <a:prstGeom prst="roundRect">
              <a:avLst/>
            </a:prstGeom>
            <a:solidFill>
              <a:srgbClr val="BABA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E" dirty="0">
                <a:solidFill>
                  <a:schemeClr val="tx1"/>
                </a:solidFill>
              </a:endParaRPr>
            </a:p>
          </p:txBody>
        </p:sp>
        <p:sp>
          <p:nvSpPr>
            <p:cNvPr id="63" name="Rectángulo: esquinas redondeadas 62">
              <a:extLst>
                <a:ext uri="{FF2B5EF4-FFF2-40B4-BE49-F238E27FC236}">
                  <a16:creationId xmlns:a16="http://schemas.microsoft.com/office/drawing/2014/main" id="{FC7F8842-FEA9-B392-2C24-27376346DA2D}"/>
                </a:ext>
              </a:extLst>
            </p:cNvPr>
            <p:cNvSpPr/>
            <p:nvPr/>
          </p:nvSpPr>
          <p:spPr>
            <a:xfrm>
              <a:off x="7013010" y="1605585"/>
              <a:ext cx="1529667" cy="68262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1400" b="1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ANTES</a:t>
              </a:r>
              <a:endParaRPr lang="es-PE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1AEC31A2-550D-EC43-8BCE-4D667362CE21}"/>
              </a:ext>
            </a:extLst>
          </p:cNvPr>
          <p:cNvGrpSpPr/>
          <p:nvPr/>
        </p:nvGrpSpPr>
        <p:grpSpPr>
          <a:xfrm>
            <a:off x="9950393" y="1844980"/>
            <a:ext cx="1745407" cy="682628"/>
            <a:chOff x="9641089" y="1605585"/>
            <a:chExt cx="1745407" cy="682628"/>
          </a:xfrm>
        </p:grpSpPr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5D14809D-6928-C989-38EE-32CF386F4EA3}"/>
                </a:ext>
              </a:extLst>
            </p:cNvPr>
            <p:cNvSpPr/>
            <p:nvPr/>
          </p:nvSpPr>
          <p:spPr>
            <a:xfrm>
              <a:off x="9662172" y="1779786"/>
              <a:ext cx="936000" cy="324000"/>
            </a:xfrm>
            <a:prstGeom prst="roundRect">
              <a:avLst/>
            </a:prstGeom>
            <a:solidFill>
              <a:srgbClr val="51AC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E" dirty="0">
                <a:solidFill>
                  <a:schemeClr val="tx1"/>
                </a:solidFill>
              </a:endParaRPr>
            </a:p>
          </p:txBody>
        </p:sp>
        <p:sp>
          <p:nvSpPr>
            <p:cNvPr id="64" name="Rectángulo: esquinas redondeadas 63">
              <a:extLst>
                <a:ext uri="{FF2B5EF4-FFF2-40B4-BE49-F238E27FC236}">
                  <a16:creationId xmlns:a16="http://schemas.microsoft.com/office/drawing/2014/main" id="{08879C20-0D30-A47C-8FD4-C82CF53F1539}"/>
                </a:ext>
              </a:extLst>
            </p:cNvPr>
            <p:cNvSpPr/>
            <p:nvPr/>
          </p:nvSpPr>
          <p:spPr>
            <a:xfrm>
              <a:off x="9641089" y="1605585"/>
              <a:ext cx="1745407" cy="682628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14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DESPUES</a:t>
              </a:r>
              <a:endParaRPr lang="es-PE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70" name="Picture 2" descr="Logo mibanco peru PNG HD Vector - Descarga Rápida">
            <a:extLst>
              <a:ext uri="{FF2B5EF4-FFF2-40B4-BE49-F238E27FC236}">
                <a16:creationId xmlns:a16="http://schemas.microsoft.com/office/drawing/2014/main" id="{FE47DC8E-9E69-E942-47EE-7652FF7A3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46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67776-653B-91D1-82B9-E577ED9C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adroTexto 71">
            <a:extLst>
              <a:ext uri="{FF2B5EF4-FFF2-40B4-BE49-F238E27FC236}">
                <a16:creationId xmlns:a16="http://schemas.microsoft.com/office/drawing/2014/main" id="{69607AD5-513D-4CC1-67B2-C97772AA374D}"/>
              </a:ext>
            </a:extLst>
          </p:cNvPr>
          <p:cNvSpPr txBox="1"/>
          <p:nvPr/>
        </p:nvSpPr>
        <p:spPr>
          <a:xfrm>
            <a:off x="7284214" y="2289653"/>
            <a:ext cx="115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Pago por contacto</a:t>
            </a:r>
            <a:endParaRPr lang="es-PE" sz="1000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56B9B0D1-3236-1554-8E75-DD09451450D6}"/>
              </a:ext>
            </a:extLst>
          </p:cNvPr>
          <p:cNvSpPr txBox="1"/>
          <p:nvPr/>
        </p:nvSpPr>
        <p:spPr>
          <a:xfrm>
            <a:off x="8957663" y="2289653"/>
            <a:ext cx="115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 contacto</a:t>
            </a:r>
            <a:endParaRPr lang="es-PE" sz="1000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D48A9ABA-AEBB-D6DF-8A18-3BC35D4CB4E4}"/>
              </a:ext>
            </a:extLst>
          </p:cNvPr>
          <p:cNvSpPr txBox="1"/>
          <p:nvPr/>
        </p:nvSpPr>
        <p:spPr>
          <a:xfrm>
            <a:off x="10497762" y="2289653"/>
            <a:ext cx="115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pago</a:t>
            </a:r>
            <a:endParaRPr lang="es-PE" sz="1000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55C0AA4-0FE4-7DF9-0765-41EE8BD5C793}"/>
              </a:ext>
            </a:extLst>
          </p:cNvPr>
          <p:cNvSpPr/>
          <p:nvPr/>
        </p:nvSpPr>
        <p:spPr>
          <a:xfrm>
            <a:off x="339718" y="1752711"/>
            <a:ext cx="5395833" cy="769271"/>
          </a:xfrm>
          <a:prstGeom prst="roundRect">
            <a:avLst/>
          </a:prstGeom>
          <a:solidFill>
            <a:srgbClr val="F0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1A3EAE-40E5-B26A-F068-4724C1D892FB}"/>
              </a:ext>
            </a:extLst>
          </p:cNvPr>
          <p:cNvSpPr txBox="1"/>
          <p:nvPr/>
        </p:nvSpPr>
        <p:spPr>
          <a:xfrm>
            <a:off x="317441" y="373545"/>
            <a:ext cx="82550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lang="es-PE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clave:</a:t>
            </a:r>
          </a:p>
          <a:p>
            <a:r>
              <a:rPr lang="es-PE" sz="38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valor está en decidir mejor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7FE4DA3-8620-480C-887A-3FC80205FC7B}"/>
              </a:ext>
            </a:extLst>
          </p:cNvPr>
          <p:cNvSpPr txBox="1"/>
          <p:nvPr/>
        </p:nvSpPr>
        <p:spPr>
          <a:xfrm>
            <a:off x="1053891" y="1839968"/>
            <a:ext cx="46816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se trata de hacer más contactos,</a:t>
            </a:r>
          </a:p>
          <a:p>
            <a:r>
              <a:rPr lang="es-PE" sz="1600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sino de decidir mejor cómo, cuándo y por qué canal.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C42089D-D1C6-ABC3-46C4-43EEA9CCF7DD}"/>
              </a:ext>
            </a:extLst>
          </p:cNvPr>
          <p:cNvSpPr txBox="1"/>
          <p:nvPr/>
        </p:nvSpPr>
        <p:spPr>
          <a:xfrm>
            <a:off x="1072865" y="5023258"/>
            <a:ext cx="3076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muestra </a:t>
            </a:r>
            <a:r>
              <a:rPr lang="es-PE" sz="14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alto potencial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168EDA5-423C-C90D-40B6-2792E6355CA0}"/>
              </a:ext>
            </a:extLst>
          </p:cNvPr>
          <p:cNvCxnSpPr>
            <a:cxnSpLocks/>
          </p:cNvCxnSpPr>
          <p:nvPr/>
        </p:nvCxnSpPr>
        <p:spPr>
          <a:xfrm>
            <a:off x="-1244886" y="1844979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1886745-7EDA-E4E4-E2E3-6A8512FCC7D0}"/>
              </a:ext>
            </a:extLst>
          </p:cNvPr>
          <p:cNvSpPr txBox="1"/>
          <p:nvPr/>
        </p:nvSpPr>
        <p:spPr>
          <a:xfrm>
            <a:off x="1072865" y="3588130"/>
            <a:ext cx="3255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Impacto </a:t>
            </a:r>
            <a:r>
              <a:rPr lang="es-PE" sz="14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varía según canal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96921B1-08E6-C1B1-4F5D-2D879EA80C45}"/>
              </a:ext>
            </a:extLst>
          </p:cNvPr>
          <p:cNvSpPr txBox="1"/>
          <p:nvPr/>
        </p:nvSpPr>
        <p:spPr>
          <a:xfrm>
            <a:off x="1072865" y="4336019"/>
            <a:ext cx="3255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Sobregestión</a:t>
            </a:r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PE" sz="14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afecta la experiencia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22A7120-B150-2063-FEF5-6F60B6A1C301}"/>
              </a:ext>
            </a:extLst>
          </p:cNvPr>
          <p:cNvSpPr txBox="1"/>
          <p:nvPr/>
        </p:nvSpPr>
        <p:spPr>
          <a:xfrm>
            <a:off x="1072865" y="2913831"/>
            <a:ext cx="3255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 que pagan por </a:t>
            </a:r>
            <a:r>
              <a:rPr lang="es-PE" sz="14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 contactados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8C0A1FC0-3933-1943-DF0A-F3C6E7A7A80E}"/>
              </a:ext>
            </a:extLst>
          </p:cNvPr>
          <p:cNvCxnSpPr>
            <a:cxnSpLocks/>
          </p:cNvCxnSpPr>
          <p:nvPr/>
        </p:nvCxnSpPr>
        <p:spPr>
          <a:xfrm>
            <a:off x="377080" y="3400700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43F7624F-B60E-BD48-A7F7-15C5F7FBC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8" y="1897021"/>
            <a:ext cx="444523" cy="43817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6522807-9D9F-B6EC-A8C0-7B389A233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80" y="2733190"/>
            <a:ext cx="590580" cy="5778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452E233-4131-48D0-8FF8-E2C8024FB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80" y="3502591"/>
            <a:ext cx="590580" cy="52072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5E029F6-4469-49C0-37E7-94CA80E4A8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80" y="4214839"/>
            <a:ext cx="571529" cy="52072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4C23944-CDF9-4A76-8936-1DD6F0990A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080" y="4927087"/>
            <a:ext cx="577880" cy="50167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3BE9C11-E118-2A9C-6A21-99B6DA1FB2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3023" y="2572236"/>
            <a:ext cx="4502381" cy="211465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7A2835C7-C926-39FD-09D4-231716D425E6}"/>
              </a:ext>
            </a:extLst>
          </p:cNvPr>
          <p:cNvSpPr txBox="1"/>
          <p:nvPr/>
        </p:nvSpPr>
        <p:spPr>
          <a:xfrm>
            <a:off x="2527577" y="5800405"/>
            <a:ext cx="1800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Conclusión: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533BE6F-B2D4-EA5A-EB39-88CCCA67E8EE}"/>
              </a:ext>
            </a:extLst>
          </p:cNvPr>
          <p:cNvSpPr/>
          <p:nvPr/>
        </p:nvSpPr>
        <p:spPr>
          <a:xfrm>
            <a:off x="1454138" y="5511735"/>
            <a:ext cx="9251962" cy="1169917"/>
          </a:xfrm>
          <a:prstGeom prst="roundRect">
            <a:avLst/>
          </a:prstGeom>
          <a:noFill/>
          <a:ln w="12700">
            <a:solidFill>
              <a:srgbClr val="0090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50527920-289B-4189-A0C5-72D586B5D2B5}"/>
              </a:ext>
            </a:extLst>
          </p:cNvPr>
          <p:cNvCxnSpPr>
            <a:cxnSpLocks/>
          </p:cNvCxnSpPr>
          <p:nvPr/>
        </p:nvCxnSpPr>
        <p:spPr>
          <a:xfrm>
            <a:off x="2384139" y="5675828"/>
            <a:ext cx="0" cy="79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7C7F70B-2351-4E11-9BD2-2CC5F623DF42}"/>
              </a:ext>
            </a:extLst>
          </p:cNvPr>
          <p:cNvSpPr txBox="1"/>
          <p:nvPr/>
        </p:nvSpPr>
        <p:spPr>
          <a:xfrm>
            <a:off x="4044605" y="5690402"/>
            <a:ext cx="5474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valor está en elegir el canal correcto, </a:t>
            </a:r>
          </a:p>
          <a:p>
            <a:r>
              <a:rPr lang="es-PE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el cliente correcto, en el momento correcto.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61FB5FC9-81FE-ABDF-6844-E89EEA4712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8537" y="5768311"/>
            <a:ext cx="647733" cy="571529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DC880B79-A378-0049-A463-C13D03E33A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3771" y="5803171"/>
            <a:ext cx="596931" cy="520727"/>
          </a:xfrm>
          <a:prstGeom prst="rect">
            <a:avLst/>
          </a:prstGeom>
        </p:spPr>
      </p:pic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A4E158D1-8259-AD18-949C-01237097EA74}"/>
              </a:ext>
            </a:extLst>
          </p:cNvPr>
          <p:cNvCxnSpPr>
            <a:cxnSpLocks/>
          </p:cNvCxnSpPr>
          <p:nvPr/>
        </p:nvCxnSpPr>
        <p:spPr>
          <a:xfrm>
            <a:off x="377080" y="4105550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AC46184A-0D56-B16F-3B32-1C6BAE129F78}"/>
              </a:ext>
            </a:extLst>
          </p:cNvPr>
          <p:cNvCxnSpPr>
            <a:cxnSpLocks/>
          </p:cNvCxnSpPr>
          <p:nvPr/>
        </p:nvCxnSpPr>
        <p:spPr>
          <a:xfrm>
            <a:off x="377080" y="4850177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656390FC-C321-0C2E-1345-D91A610D00E4}"/>
              </a:ext>
            </a:extLst>
          </p:cNvPr>
          <p:cNvSpPr txBox="1"/>
          <p:nvPr/>
        </p:nvSpPr>
        <p:spPr>
          <a:xfrm>
            <a:off x="7695705" y="1741640"/>
            <a:ext cx="325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Resultado por tipo de contacto</a:t>
            </a:r>
            <a:endParaRPr lang="es-PE" sz="1600" b="1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9074DD06-F779-0483-210B-415A77AEFC90}"/>
              </a:ext>
            </a:extLst>
          </p:cNvPr>
          <p:cNvSpPr/>
          <p:nvPr/>
        </p:nvSpPr>
        <p:spPr>
          <a:xfrm>
            <a:off x="7129614" y="2320984"/>
            <a:ext cx="180000" cy="180000"/>
          </a:xfrm>
          <a:prstGeom prst="ellipse">
            <a:avLst/>
          </a:prstGeom>
          <a:solidFill>
            <a:srgbClr val="028E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1D801A47-6619-EDCA-AFB7-82CE15C4AE9B}"/>
              </a:ext>
            </a:extLst>
          </p:cNvPr>
          <p:cNvSpPr/>
          <p:nvPr/>
        </p:nvSpPr>
        <p:spPr>
          <a:xfrm>
            <a:off x="8811663" y="2320984"/>
            <a:ext cx="180000" cy="180000"/>
          </a:xfrm>
          <a:prstGeom prst="ellipse">
            <a:avLst/>
          </a:prstGeom>
          <a:solidFill>
            <a:srgbClr val="FDB6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4A91C91F-C41A-B1D3-9665-A7F83918FC74}"/>
              </a:ext>
            </a:extLst>
          </p:cNvPr>
          <p:cNvSpPr/>
          <p:nvPr/>
        </p:nvSpPr>
        <p:spPr>
          <a:xfrm>
            <a:off x="10319456" y="2320984"/>
            <a:ext cx="180000" cy="180000"/>
          </a:xfrm>
          <a:prstGeom prst="ellipse">
            <a:avLst/>
          </a:prstGeom>
          <a:solidFill>
            <a:srgbClr val="E441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E3D97C9-EA18-991B-E554-487CB82107C6}"/>
              </a:ext>
            </a:extLst>
          </p:cNvPr>
          <p:cNvCxnSpPr/>
          <p:nvPr/>
        </p:nvCxnSpPr>
        <p:spPr>
          <a:xfrm>
            <a:off x="7821663" y="2134527"/>
            <a:ext cx="720000" cy="0"/>
          </a:xfrm>
          <a:prstGeom prst="line">
            <a:avLst/>
          </a:prstGeom>
          <a:ln w="22225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2" descr="Logo mibanco peru PNG HD Vector - Descarga Rápida">
            <a:extLst>
              <a:ext uri="{FF2B5EF4-FFF2-40B4-BE49-F238E27FC236}">
                <a16:creationId xmlns:a16="http://schemas.microsoft.com/office/drawing/2014/main" id="{2F9169C1-899D-0802-5D57-B5CCEAC09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Imagen 77">
            <a:extLst>
              <a:ext uri="{FF2B5EF4-FFF2-40B4-BE49-F238E27FC236}">
                <a16:creationId xmlns:a16="http://schemas.microsoft.com/office/drawing/2014/main" id="{AD1E7A24-7499-62E3-388B-6FE54111D8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5705" y="4704192"/>
            <a:ext cx="495325" cy="647733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3890E042-7778-8629-D56E-875AC2EAA7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3024" y="4726476"/>
            <a:ext cx="590580" cy="647733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8C397F83-CF03-B6F7-FB38-7EDA0811A57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8421" y="4701017"/>
            <a:ext cx="552478" cy="65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4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A478A-57EE-C2A1-8823-7B40BD2A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181B6086-9597-7687-7DA3-6E58D105BB53}"/>
              </a:ext>
            </a:extLst>
          </p:cNvPr>
          <p:cNvSpPr txBox="1"/>
          <p:nvPr/>
        </p:nvSpPr>
        <p:spPr>
          <a:xfrm>
            <a:off x="317441" y="373545"/>
            <a:ext cx="111173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Público objetivo:</a:t>
            </a:r>
          </a:p>
          <a:p>
            <a:r>
              <a:rPr lang="es-PE" sz="38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clave diferenciar clientes digitales y no digitales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BCBF0E-34F6-1DD1-3955-AA49E0F603F0}"/>
              </a:ext>
            </a:extLst>
          </p:cNvPr>
          <p:cNvCxnSpPr>
            <a:cxnSpLocks/>
          </p:cNvCxnSpPr>
          <p:nvPr/>
        </p:nvCxnSpPr>
        <p:spPr>
          <a:xfrm>
            <a:off x="408609" y="1748196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1D93522-42A5-27D0-F1FE-330659FD3913}"/>
              </a:ext>
            </a:extLst>
          </p:cNvPr>
          <p:cNvSpPr txBox="1"/>
          <p:nvPr/>
        </p:nvSpPr>
        <p:spPr>
          <a:xfrm>
            <a:off x="1291801" y="2068505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Cartera </a:t>
            </a:r>
            <a:r>
              <a:rPr lang="es-PE" sz="1600" b="1" dirty="0">
                <a:solidFill>
                  <a:srgbClr val="028E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&lt;35K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80% del portafolio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BCA1586-DCF8-DCCD-4E5B-45D246FFF969}"/>
              </a:ext>
            </a:extLst>
          </p:cNvPr>
          <p:cNvCxnSpPr>
            <a:cxnSpLocks/>
          </p:cNvCxnSpPr>
          <p:nvPr/>
        </p:nvCxnSpPr>
        <p:spPr>
          <a:xfrm>
            <a:off x="377080" y="2803932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BDDCFF2-66E9-EA8A-C7CD-795D15D9EE3E}"/>
              </a:ext>
            </a:extLst>
          </p:cNvPr>
          <p:cNvSpPr txBox="1"/>
          <p:nvPr/>
        </p:nvSpPr>
        <p:spPr>
          <a:xfrm>
            <a:off x="2527577" y="5800405"/>
            <a:ext cx="1800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 clave: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B2210151-C671-C9FF-FE88-3FF5050F0877}"/>
              </a:ext>
            </a:extLst>
          </p:cNvPr>
          <p:cNvSpPr/>
          <p:nvPr/>
        </p:nvSpPr>
        <p:spPr>
          <a:xfrm>
            <a:off x="1454138" y="5511735"/>
            <a:ext cx="9251962" cy="1169917"/>
          </a:xfrm>
          <a:prstGeom prst="roundRect">
            <a:avLst/>
          </a:prstGeom>
          <a:noFill/>
          <a:ln w="12700">
            <a:solidFill>
              <a:srgbClr val="0090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315F510-5958-2BA0-499E-CD654B619508}"/>
              </a:ext>
            </a:extLst>
          </p:cNvPr>
          <p:cNvCxnSpPr>
            <a:cxnSpLocks/>
          </p:cNvCxnSpPr>
          <p:nvPr/>
        </p:nvCxnSpPr>
        <p:spPr>
          <a:xfrm>
            <a:off x="2384139" y="5675828"/>
            <a:ext cx="0" cy="79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58E9F3F-6C3A-7B8A-450D-D7BCAD021340}"/>
              </a:ext>
            </a:extLst>
          </p:cNvPr>
          <p:cNvSpPr txBox="1"/>
          <p:nvPr/>
        </p:nvSpPr>
        <p:spPr>
          <a:xfrm>
            <a:off x="3962082" y="5682180"/>
            <a:ext cx="5474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Entender las diferencias entre clientes digitales y no digitales nos permitirá tener una mejor gestión</a:t>
            </a:r>
          </a:p>
        </p:txBody>
      </p:sp>
      <p:pic>
        <p:nvPicPr>
          <p:cNvPr id="55" name="Imagen 54">
            <a:extLst>
              <a:ext uri="{FF2B5EF4-FFF2-40B4-BE49-F238E27FC236}">
                <a16:creationId xmlns:a16="http://schemas.microsoft.com/office/drawing/2014/main" id="{75AAF393-29AB-E0CC-8E0B-6AEF87A94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537" y="5768311"/>
            <a:ext cx="647733" cy="571529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594559CC-F52E-5E88-CF9F-9D3F8D5C0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771" y="5803171"/>
            <a:ext cx="596931" cy="520727"/>
          </a:xfrm>
          <a:prstGeom prst="rect">
            <a:avLst/>
          </a:prstGeom>
        </p:spPr>
      </p:pic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09DDD92-5962-A14D-857B-54E141C45833}"/>
              </a:ext>
            </a:extLst>
          </p:cNvPr>
          <p:cNvCxnSpPr>
            <a:cxnSpLocks/>
          </p:cNvCxnSpPr>
          <p:nvPr/>
        </p:nvCxnSpPr>
        <p:spPr>
          <a:xfrm>
            <a:off x="377080" y="3730164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218E2EC8-5AB3-B8BC-415E-E0C230C72BC5}"/>
              </a:ext>
            </a:extLst>
          </p:cNvPr>
          <p:cNvCxnSpPr>
            <a:cxnSpLocks/>
          </p:cNvCxnSpPr>
          <p:nvPr/>
        </p:nvCxnSpPr>
        <p:spPr>
          <a:xfrm>
            <a:off x="377080" y="4628795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E904A04D-4517-78D1-5AE3-40E1F5F176EC}"/>
              </a:ext>
            </a:extLst>
          </p:cNvPr>
          <p:cNvSpPr txBox="1"/>
          <p:nvPr/>
        </p:nvSpPr>
        <p:spPr>
          <a:xfrm>
            <a:off x="6320523" y="1850444"/>
            <a:ext cx="325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Composición de la cartera</a:t>
            </a:r>
            <a:endParaRPr lang="es-PE" sz="1600" b="1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7AF28FD3-BF37-1C4A-95E4-59A55B3366A3}"/>
              </a:ext>
            </a:extLst>
          </p:cNvPr>
          <p:cNvCxnSpPr/>
          <p:nvPr/>
        </p:nvCxnSpPr>
        <p:spPr>
          <a:xfrm>
            <a:off x="6446481" y="2291456"/>
            <a:ext cx="720000" cy="0"/>
          </a:xfrm>
          <a:prstGeom prst="line">
            <a:avLst/>
          </a:prstGeom>
          <a:ln w="22225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3BF7A868-525E-DA20-1B34-7B8CBAF05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09" y="2021152"/>
            <a:ext cx="704886" cy="6540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BAC483C-0A14-2428-A5E9-5117789166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80" y="2947494"/>
            <a:ext cx="723937" cy="6540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289AD03-8E5C-675F-5C4D-7F90CB4A1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080" y="3873836"/>
            <a:ext cx="692186" cy="63503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49DB31B-81D1-5861-EB4E-D84EB15EB5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978" y="4781126"/>
            <a:ext cx="730288" cy="628682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E6F49AC5-2BE4-8C22-5A7F-B1EDCAD541F6}"/>
              </a:ext>
            </a:extLst>
          </p:cNvPr>
          <p:cNvSpPr txBox="1"/>
          <p:nvPr/>
        </p:nvSpPr>
        <p:spPr>
          <a:xfrm>
            <a:off x="1291801" y="2973588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28E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 digitales 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tradicionales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9427D59-E9B3-F45E-5135-F9D45223A3EE}"/>
              </a:ext>
            </a:extLst>
          </p:cNvPr>
          <p:cNvSpPr txBox="1"/>
          <p:nvPr/>
        </p:nvSpPr>
        <p:spPr>
          <a:xfrm>
            <a:off x="1291801" y="3873998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28E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Segmentación existente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(score + comportamiento)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575F4F4-D265-5384-130C-222F06519363}"/>
              </a:ext>
            </a:extLst>
          </p:cNvPr>
          <p:cNvSpPr txBox="1"/>
          <p:nvPr/>
        </p:nvSpPr>
        <p:spPr>
          <a:xfrm>
            <a:off x="1291801" y="4777525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28E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Poco en personalización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gestión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B82B47A8-9829-011E-E816-3D40A6AA67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0148" y="2518368"/>
            <a:ext cx="2692538" cy="267348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3541DAFE-5265-F6A1-AADD-54DBE56ABC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3752" y="2565795"/>
            <a:ext cx="939848" cy="476274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8A6E2F44-A488-A9FF-9AA6-411D93DD075F}"/>
              </a:ext>
            </a:extLst>
          </p:cNvPr>
          <p:cNvSpPr txBox="1"/>
          <p:nvPr/>
        </p:nvSpPr>
        <p:spPr>
          <a:xfrm>
            <a:off x="9580303" y="3179288"/>
            <a:ext cx="25269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mayoría de nuestros clientes son digitales</a:t>
            </a:r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¡Gran oportunidad!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A8C7655A-883F-38EF-02ED-1FFF90CF92B7}"/>
              </a:ext>
            </a:extLst>
          </p:cNvPr>
          <p:cNvSpPr/>
          <p:nvPr/>
        </p:nvSpPr>
        <p:spPr>
          <a:xfrm>
            <a:off x="9189005" y="4187755"/>
            <a:ext cx="2794447" cy="982168"/>
          </a:xfrm>
          <a:prstGeom prst="roundRect">
            <a:avLst/>
          </a:prstGeom>
          <a:solidFill>
            <a:srgbClr val="F0F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E15E5BA-654F-6231-E3BC-4E23C08469CC}"/>
              </a:ext>
            </a:extLst>
          </p:cNvPr>
          <p:cNvSpPr txBox="1"/>
          <p:nvPr/>
        </p:nvSpPr>
        <p:spPr>
          <a:xfrm>
            <a:off x="9853030" y="4313512"/>
            <a:ext cx="20003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Mejorar la segmentación y personalización por </a:t>
            </a:r>
            <a:r>
              <a:rPr lang="es-PE" sz="14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tipo de cliente</a:t>
            </a: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5B908752-3B22-A7AE-0C3C-A092F607D3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2128" y="4428318"/>
            <a:ext cx="444523" cy="438173"/>
          </a:xfrm>
          <a:prstGeom prst="rect">
            <a:avLst/>
          </a:prstGeom>
        </p:spPr>
      </p:pic>
      <p:pic>
        <p:nvPicPr>
          <p:cNvPr id="39" name="Picture 2" descr="Logo mibanco peru PNG HD Vector - Descarga Rápida">
            <a:extLst>
              <a:ext uri="{FF2B5EF4-FFF2-40B4-BE49-F238E27FC236}">
                <a16:creationId xmlns:a16="http://schemas.microsoft.com/office/drawing/2014/main" id="{DFDECF95-EE7A-CBFB-CFDA-4D9B4958C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8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1B2E6-A8EE-2A11-7D7D-7D1DA156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F30E42E0-7720-4C97-B024-2D9CD96AF064}"/>
              </a:ext>
            </a:extLst>
          </p:cNvPr>
          <p:cNvSpPr/>
          <p:nvPr/>
        </p:nvSpPr>
        <p:spPr>
          <a:xfrm>
            <a:off x="6083595" y="1729570"/>
            <a:ext cx="5260680" cy="36107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1454191-CA4F-6BA0-ED09-F59353F49871}"/>
              </a:ext>
            </a:extLst>
          </p:cNvPr>
          <p:cNvSpPr txBox="1"/>
          <p:nvPr/>
        </p:nvSpPr>
        <p:spPr>
          <a:xfrm>
            <a:off x="317440" y="373545"/>
            <a:ext cx="1178976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Producto y tramo:</a:t>
            </a:r>
          </a:p>
          <a:p>
            <a:r>
              <a:rPr lang="es-PE" sz="37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mora temprana concentra mayor impacto y oportunidad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65A71A4-38EE-2C09-A82C-2D3EFC51D083}"/>
              </a:ext>
            </a:extLst>
          </p:cNvPr>
          <p:cNvCxnSpPr>
            <a:cxnSpLocks/>
          </p:cNvCxnSpPr>
          <p:nvPr/>
        </p:nvCxnSpPr>
        <p:spPr>
          <a:xfrm>
            <a:off x="408609" y="1748196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90FEE4E-3B81-1DCE-2AA2-FFDE1DC78577}"/>
              </a:ext>
            </a:extLst>
          </p:cNvPr>
          <p:cNvSpPr txBox="1"/>
          <p:nvPr/>
        </p:nvSpPr>
        <p:spPr>
          <a:xfrm>
            <a:off x="1291801" y="2068505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Créditos </a:t>
            </a:r>
            <a:r>
              <a:rPr lang="es-PE" sz="1600" b="1" dirty="0" err="1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microfinancieros</a:t>
            </a:r>
            <a:endParaRPr lang="es-PE" sz="1600" b="1" dirty="0">
              <a:solidFill>
                <a:srgbClr val="00903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Nuestro principal foco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C545E70B-B142-5938-C7CD-6A5BF3124E42}"/>
              </a:ext>
            </a:extLst>
          </p:cNvPr>
          <p:cNvCxnSpPr>
            <a:cxnSpLocks/>
          </p:cNvCxnSpPr>
          <p:nvPr/>
        </p:nvCxnSpPr>
        <p:spPr>
          <a:xfrm>
            <a:off x="377080" y="2803932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B869ED2-19AE-8A61-C5DE-DFB08A8B2BCF}"/>
              </a:ext>
            </a:extLst>
          </p:cNvPr>
          <p:cNvSpPr txBox="1"/>
          <p:nvPr/>
        </p:nvSpPr>
        <p:spPr>
          <a:xfrm>
            <a:off x="2525404" y="5603598"/>
            <a:ext cx="1800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resumen: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6DD57D4-0C26-F23F-18A2-C7FEB104BE63}"/>
              </a:ext>
            </a:extLst>
          </p:cNvPr>
          <p:cNvSpPr/>
          <p:nvPr/>
        </p:nvSpPr>
        <p:spPr>
          <a:xfrm>
            <a:off x="1454138" y="5511735"/>
            <a:ext cx="9251962" cy="1169917"/>
          </a:xfrm>
          <a:prstGeom prst="roundRect">
            <a:avLst/>
          </a:prstGeom>
          <a:noFill/>
          <a:ln w="12700">
            <a:solidFill>
              <a:srgbClr val="0090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955D2FC7-9740-0FB7-EE47-05C07E771448}"/>
              </a:ext>
            </a:extLst>
          </p:cNvPr>
          <p:cNvCxnSpPr>
            <a:cxnSpLocks/>
          </p:cNvCxnSpPr>
          <p:nvPr/>
        </p:nvCxnSpPr>
        <p:spPr>
          <a:xfrm>
            <a:off x="2384139" y="5675828"/>
            <a:ext cx="0" cy="79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C609CAC-831C-11BA-761D-74E99A3733CC}"/>
              </a:ext>
            </a:extLst>
          </p:cNvPr>
          <p:cNvSpPr txBox="1"/>
          <p:nvPr/>
        </p:nvSpPr>
        <p:spPr>
          <a:xfrm>
            <a:off x="2525404" y="5983318"/>
            <a:ext cx="7141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 actuamos temprano, en el tramo correcto, podemos optimizar la gestión de la cobranza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5C089A3-433B-63A4-6166-7BC19EA4AE2B}"/>
              </a:ext>
            </a:extLst>
          </p:cNvPr>
          <p:cNvCxnSpPr>
            <a:cxnSpLocks/>
          </p:cNvCxnSpPr>
          <p:nvPr/>
        </p:nvCxnSpPr>
        <p:spPr>
          <a:xfrm>
            <a:off x="377080" y="3730164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ECDC73A4-26D9-88D2-36DB-D4CFC4EC2000}"/>
              </a:ext>
            </a:extLst>
          </p:cNvPr>
          <p:cNvCxnSpPr>
            <a:cxnSpLocks/>
          </p:cNvCxnSpPr>
          <p:nvPr/>
        </p:nvCxnSpPr>
        <p:spPr>
          <a:xfrm>
            <a:off x="377080" y="4628795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7F699D-3705-2127-99CC-CE1CC7156723}"/>
              </a:ext>
            </a:extLst>
          </p:cNvPr>
          <p:cNvSpPr txBox="1"/>
          <p:nvPr/>
        </p:nvSpPr>
        <p:spPr>
          <a:xfrm>
            <a:off x="1291801" y="2973588"/>
            <a:ext cx="3337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Foco: preventiva y mora temprana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Actuamos antes que la mora crezca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9FDF498-36D2-5DCB-8129-79F7BDB192A2}"/>
              </a:ext>
            </a:extLst>
          </p:cNvPr>
          <p:cNvSpPr txBox="1"/>
          <p:nvPr/>
        </p:nvSpPr>
        <p:spPr>
          <a:xfrm>
            <a:off x="1291801" y="3873998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Alto volumen de clientes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Impacto masivo de clientes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E60CD96-C978-FC2F-22BC-A3E0A22AAE64}"/>
              </a:ext>
            </a:extLst>
          </p:cNvPr>
          <p:cNvSpPr txBox="1"/>
          <p:nvPr/>
        </p:nvSpPr>
        <p:spPr>
          <a:xfrm>
            <a:off x="1291801" y="4777525"/>
            <a:ext cx="342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Alta oportunidad de eficiencia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 gestión = menores costos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3C844F-D424-A382-E5A1-B01461C90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80" y="1992743"/>
            <a:ext cx="647733" cy="6540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FD3C43-5766-A582-9635-37066325D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215" y="2951634"/>
            <a:ext cx="723937" cy="62868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E979DE9-82D3-6175-B484-406B6FC13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81" y="3851187"/>
            <a:ext cx="762039" cy="67313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B4A0BB7-C9EE-D987-E529-784AE5407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66" y="4777525"/>
            <a:ext cx="704886" cy="635033"/>
          </a:xfrm>
          <a:prstGeom prst="rect">
            <a:avLst/>
          </a:prstGeom>
        </p:spPr>
      </p:pic>
      <p:grpSp>
        <p:nvGrpSpPr>
          <p:cNvPr id="42" name="Grupo 41">
            <a:extLst>
              <a:ext uri="{FF2B5EF4-FFF2-40B4-BE49-F238E27FC236}">
                <a16:creationId xmlns:a16="http://schemas.microsoft.com/office/drawing/2014/main" id="{1C9E74C9-A71E-0489-8CE4-81F5CA9D0B49}"/>
              </a:ext>
            </a:extLst>
          </p:cNvPr>
          <p:cNvGrpSpPr/>
          <p:nvPr/>
        </p:nvGrpSpPr>
        <p:grpSpPr>
          <a:xfrm>
            <a:off x="6446481" y="2886720"/>
            <a:ext cx="4224004" cy="2134467"/>
            <a:chOff x="6766560" y="2373520"/>
            <a:chExt cx="4224004" cy="213446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51093C7-61AB-4BFA-F696-A60333720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616" b="16426"/>
            <a:stretch>
              <a:fillRect/>
            </a:stretch>
          </p:blipFill>
          <p:spPr>
            <a:xfrm>
              <a:off x="6766560" y="2373520"/>
              <a:ext cx="4224004" cy="1677092"/>
            </a:xfrm>
            <a:prstGeom prst="rect">
              <a:avLst/>
            </a:prstGeom>
          </p:spPr>
        </p:pic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B1E3CED-8FB0-6C64-B5C8-C9E6768E05A4}"/>
                </a:ext>
              </a:extLst>
            </p:cNvPr>
            <p:cNvSpPr txBox="1"/>
            <p:nvPr/>
          </p:nvSpPr>
          <p:spPr>
            <a:xfrm>
              <a:off x="6915187" y="4107877"/>
              <a:ext cx="8317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Preventiva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D9E3D752-F88E-3C0B-F9FC-F6EA04C7D511}"/>
                </a:ext>
              </a:extLst>
            </p:cNvPr>
            <p:cNvSpPr txBox="1"/>
            <p:nvPr/>
          </p:nvSpPr>
          <p:spPr>
            <a:xfrm>
              <a:off x="7851166" y="4107877"/>
              <a:ext cx="5214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</a:p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días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9F4ADBB-391D-F209-61F5-3FA266B909B9}"/>
                </a:ext>
              </a:extLst>
            </p:cNvPr>
            <p:cNvSpPr txBox="1"/>
            <p:nvPr/>
          </p:nvSpPr>
          <p:spPr>
            <a:xfrm>
              <a:off x="8668888" y="4107877"/>
              <a:ext cx="5214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01-30</a:t>
              </a:r>
            </a:p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días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FA8A5EBC-EAE6-301C-2DE6-1AD669371F77}"/>
                </a:ext>
              </a:extLst>
            </p:cNvPr>
            <p:cNvSpPr txBox="1"/>
            <p:nvPr/>
          </p:nvSpPr>
          <p:spPr>
            <a:xfrm>
              <a:off x="9451625" y="4107877"/>
              <a:ext cx="5214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31-60</a:t>
              </a:r>
            </a:p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días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F1FC259B-5D29-381D-1860-D774E82EFF90}"/>
                </a:ext>
              </a:extLst>
            </p:cNvPr>
            <p:cNvSpPr txBox="1"/>
            <p:nvPr/>
          </p:nvSpPr>
          <p:spPr>
            <a:xfrm>
              <a:off x="10222722" y="4107877"/>
              <a:ext cx="5214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+60</a:t>
              </a:r>
            </a:p>
            <a:p>
              <a:pPr algn="ctr"/>
              <a:r>
                <a:rPr lang="es-PE" sz="1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días</a:t>
              </a:r>
            </a:p>
          </p:txBody>
        </p:sp>
      </p:grp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DCD4BA5-86EC-EBD2-4D34-4AB6139C7AF1}"/>
              </a:ext>
            </a:extLst>
          </p:cNvPr>
          <p:cNvSpPr txBox="1"/>
          <p:nvPr/>
        </p:nvSpPr>
        <p:spPr>
          <a:xfrm>
            <a:off x="6795681" y="1964492"/>
            <a:ext cx="325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por días mora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5CBBFDF-9BDC-AA46-6FE1-2CCE092CCA80}"/>
              </a:ext>
            </a:extLst>
          </p:cNvPr>
          <p:cNvCxnSpPr/>
          <p:nvPr/>
        </p:nvCxnSpPr>
        <p:spPr>
          <a:xfrm>
            <a:off x="6883539" y="2310254"/>
            <a:ext cx="720000" cy="0"/>
          </a:xfrm>
          <a:prstGeom prst="line">
            <a:avLst/>
          </a:prstGeom>
          <a:ln w="22225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Imagen 43">
            <a:extLst>
              <a:ext uri="{FF2B5EF4-FFF2-40B4-BE49-F238E27FC236}">
                <a16:creationId xmlns:a16="http://schemas.microsoft.com/office/drawing/2014/main" id="{0B5006A4-1624-A028-0C16-7C10B3248D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413" y="2021757"/>
            <a:ext cx="349268" cy="342918"/>
          </a:xfrm>
          <a:prstGeom prst="rect">
            <a:avLst/>
          </a:prstGeom>
        </p:spPr>
      </p:pic>
      <p:sp>
        <p:nvSpPr>
          <p:cNvPr id="45" name="CuadroTexto 44">
            <a:extLst>
              <a:ext uri="{FF2B5EF4-FFF2-40B4-BE49-F238E27FC236}">
                <a16:creationId xmlns:a16="http://schemas.microsoft.com/office/drawing/2014/main" id="{1B58B198-ACA8-E41D-8A2C-82B637F27F98}"/>
              </a:ext>
            </a:extLst>
          </p:cNvPr>
          <p:cNvSpPr txBox="1"/>
          <p:nvPr/>
        </p:nvSpPr>
        <p:spPr>
          <a:xfrm>
            <a:off x="6419782" y="2484802"/>
            <a:ext cx="1182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Clientes</a:t>
            </a:r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7DC8EAD3-B4D5-A821-BF6A-707471B6F5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8185" y="5777836"/>
            <a:ext cx="539778" cy="552478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1635C675-55A0-88D0-9D38-F93919E2F5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25" y="5756708"/>
            <a:ext cx="635033" cy="558829"/>
          </a:xfrm>
          <a:prstGeom prst="rect">
            <a:avLst/>
          </a:prstGeom>
        </p:spPr>
      </p:pic>
      <p:pic>
        <p:nvPicPr>
          <p:cNvPr id="52" name="Picture 2" descr="Logo mibanco peru PNG HD Vector - Descarga Rápida">
            <a:extLst>
              <a:ext uri="{FF2B5EF4-FFF2-40B4-BE49-F238E27FC236}">
                <a16:creationId xmlns:a16="http://schemas.microsoft.com/office/drawing/2014/main" id="{7888DD3A-F32C-BEBA-FE6D-5CFD90AC9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Cerrar llave 52">
            <a:extLst>
              <a:ext uri="{FF2B5EF4-FFF2-40B4-BE49-F238E27FC236}">
                <a16:creationId xmlns:a16="http://schemas.microsoft.com/office/drawing/2014/main" id="{4F95261B-B5CD-E887-4133-4793DF3D9E6F}"/>
              </a:ext>
            </a:extLst>
          </p:cNvPr>
          <p:cNvSpPr/>
          <p:nvPr/>
        </p:nvSpPr>
        <p:spPr>
          <a:xfrm rot="5400000">
            <a:off x="7303756" y="4393441"/>
            <a:ext cx="246221" cy="1453413"/>
          </a:xfrm>
          <a:prstGeom prst="rightBrac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6573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F5E8E-FA3F-211A-9202-6F0F86AC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8EDE17E9-3595-AC7E-F64C-25635D9E1206}"/>
              </a:ext>
            </a:extLst>
          </p:cNvPr>
          <p:cNvSpPr/>
          <p:nvPr/>
        </p:nvSpPr>
        <p:spPr>
          <a:xfrm>
            <a:off x="6040750" y="1951404"/>
            <a:ext cx="5636900" cy="42207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2E738B-22F9-5839-BA00-4E026A2B32A6}"/>
              </a:ext>
            </a:extLst>
          </p:cNvPr>
          <p:cNvSpPr txBox="1"/>
          <p:nvPr/>
        </p:nvSpPr>
        <p:spPr>
          <a:xfrm>
            <a:off x="317440" y="373545"/>
            <a:ext cx="1178976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Canales:</a:t>
            </a:r>
          </a:p>
          <a:p>
            <a:r>
              <a:rPr lang="es-PE" sz="37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canal tiene distinto costo y rol en la cobranza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D5EA445-EDF4-5E7D-0A1E-2F4A6FC3BCD9}"/>
              </a:ext>
            </a:extLst>
          </p:cNvPr>
          <p:cNvCxnSpPr>
            <a:cxnSpLocks/>
          </p:cNvCxnSpPr>
          <p:nvPr/>
        </p:nvCxnSpPr>
        <p:spPr>
          <a:xfrm>
            <a:off x="408609" y="1748196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A2274F2-47C0-1786-9A3F-E053699B1DA4}"/>
              </a:ext>
            </a:extLst>
          </p:cNvPr>
          <p:cNvSpPr txBox="1"/>
          <p:nvPr/>
        </p:nvSpPr>
        <p:spPr>
          <a:xfrm>
            <a:off x="6885133" y="2247608"/>
            <a:ext cx="325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Costo vs efectividad del canal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28AD5834-7E01-C015-8B12-FD28310FD3FE}"/>
              </a:ext>
            </a:extLst>
          </p:cNvPr>
          <p:cNvCxnSpPr/>
          <p:nvPr/>
        </p:nvCxnSpPr>
        <p:spPr>
          <a:xfrm>
            <a:off x="6972991" y="2593370"/>
            <a:ext cx="720000" cy="0"/>
          </a:xfrm>
          <a:prstGeom prst="line">
            <a:avLst/>
          </a:prstGeom>
          <a:ln w="22225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D128E2AD-75FD-E42A-6A91-BDDD8481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13" y="2932915"/>
            <a:ext cx="4597636" cy="2952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4DB7DE6-9641-4CFE-31A5-9BB78A2CA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113" y="2264554"/>
            <a:ext cx="381020" cy="3683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4A50A9-01C9-7522-DFF1-689F2741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318" y="2830168"/>
            <a:ext cx="1409772" cy="102875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26B50FE-15B6-E221-38B0-96CF532F4195}"/>
              </a:ext>
            </a:extLst>
          </p:cNvPr>
          <p:cNvSpPr txBox="1"/>
          <p:nvPr/>
        </p:nvSpPr>
        <p:spPr>
          <a:xfrm>
            <a:off x="1493117" y="3118838"/>
            <a:ext cx="1800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 clave:</a:t>
            </a:r>
            <a:endParaRPr lang="es-P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72316EE-0355-438D-E8E1-700A48FEA21A}"/>
              </a:ext>
            </a:extLst>
          </p:cNvPr>
          <p:cNvSpPr/>
          <p:nvPr/>
        </p:nvSpPr>
        <p:spPr>
          <a:xfrm>
            <a:off x="419678" y="2830168"/>
            <a:ext cx="5045171" cy="2101995"/>
          </a:xfrm>
          <a:prstGeom prst="roundRect">
            <a:avLst/>
          </a:prstGeom>
          <a:noFill/>
          <a:ln w="12700">
            <a:solidFill>
              <a:srgbClr val="0090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DAA0F5C-6099-AB9D-B3AB-0AB890616280}"/>
              </a:ext>
            </a:extLst>
          </p:cNvPr>
          <p:cNvCxnSpPr>
            <a:cxnSpLocks/>
          </p:cNvCxnSpPr>
          <p:nvPr/>
        </p:nvCxnSpPr>
        <p:spPr>
          <a:xfrm>
            <a:off x="1349679" y="2994261"/>
            <a:ext cx="0" cy="1692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0DC7C3B-A2FE-2081-2E7A-A120F57FDE07}"/>
              </a:ext>
            </a:extLst>
          </p:cNvPr>
          <p:cNvSpPr txBox="1"/>
          <p:nvPr/>
        </p:nvSpPr>
        <p:spPr>
          <a:xfrm>
            <a:off x="1437582" y="3616811"/>
            <a:ext cx="36893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Elegir el canal correcto para cada cliente maximiza resultados y optimiza los costos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B2BD809C-E1D6-A882-BF51-82AF29D49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49" y="3518948"/>
            <a:ext cx="596931" cy="520727"/>
          </a:xfrm>
          <a:prstGeom prst="rect">
            <a:avLst/>
          </a:prstGeom>
        </p:spPr>
      </p:pic>
      <p:pic>
        <p:nvPicPr>
          <p:cNvPr id="33" name="Picture 2" descr="Logo mibanco peru PNG HD Vector - Descarga Rápida">
            <a:extLst>
              <a:ext uri="{FF2B5EF4-FFF2-40B4-BE49-F238E27FC236}">
                <a16:creationId xmlns:a16="http://schemas.microsoft.com/office/drawing/2014/main" id="{FAD496E5-7E88-7F49-21AB-CF716E981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upo 34">
            <a:extLst>
              <a:ext uri="{FF2B5EF4-FFF2-40B4-BE49-F238E27FC236}">
                <a16:creationId xmlns:a16="http://schemas.microsoft.com/office/drawing/2014/main" id="{C2ACAB5D-0D2D-D9DC-4D97-677A068BEFB8}"/>
              </a:ext>
            </a:extLst>
          </p:cNvPr>
          <p:cNvGrpSpPr/>
          <p:nvPr/>
        </p:nvGrpSpPr>
        <p:grpSpPr>
          <a:xfrm>
            <a:off x="7530752" y="3709668"/>
            <a:ext cx="756668" cy="252000"/>
            <a:chOff x="9662172" y="1779786"/>
            <a:chExt cx="756668" cy="252000"/>
          </a:xfrm>
        </p:grpSpPr>
        <p:sp>
          <p:nvSpPr>
            <p:cNvPr id="36" name="Rectángulo: esquinas redondeadas 35">
              <a:extLst>
                <a:ext uri="{FF2B5EF4-FFF2-40B4-BE49-F238E27FC236}">
                  <a16:creationId xmlns:a16="http://schemas.microsoft.com/office/drawing/2014/main" id="{EE13FC86-84A2-9BE8-EDB6-C7BFE1E97942}"/>
                </a:ext>
              </a:extLst>
            </p:cNvPr>
            <p:cNvSpPr/>
            <p:nvPr/>
          </p:nvSpPr>
          <p:spPr>
            <a:xfrm>
              <a:off x="9662172" y="1779786"/>
              <a:ext cx="756000" cy="252000"/>
            </a:xfrm>
            <a:prstGeom prst="roundRect">
              <a:avLst/>
            </a:prstGeom>
            <a:solidFill>
              <a:srgbClr val="DFF0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E" sz="900" dirty="0">
                <a:solidFill>
                  <a:schemeClr val="tx1"/>
                </a:solidFill>
              </a:endParaRPr>
            </a:p>
          </p:txBody>
        </p:sp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DB32F0D3-EA07-0144-A6C7-232B50BF4728}"/>
                </a:ext>
              </a:extLst>
            </p:cNvPr>
            <p:cNvSpPr/>
            <p:nvPr/>
          </p:nvSpPr>
          <p:spPr>
            <a:xfrm>
              <a:off x="9698840" y="1810212"/>
              <a:ext cx="720000" cy="216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900" b="1" dirty="0">
                  <a:solidFill>
                    <a:srgbClr val="00903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Bajo costo</a:t>
              </a:r>
              <a:endParaRPr lang="es-PE" sz="900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A677CCA-E8E3-B2B8-DF43-9F80CB763C02}"/>
              </a:ext>
            </a:extLst>
          </p:cNvPr>
          <p:cNvGrpSpPr/>
          <p:nvPr/>
        </p:nvGrpSpPr>
        <p:grpSpPr>
          <a:xfrm>
            <a:off x="8257090" y="5070620"/>
            <a:ext cx="828000" cy="252000"/>
            <a:chOff x="9641090" y="1779786"/>
            <a:chExt cx="828000" cy="252000"/>
          </a:xfrm>
        </p:grpSpPr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03141C71-340C-737F-37BD-732DEC54614C}"/>
                </a:ext>
              </a:extLst>
            </p:cNvPr>
            <p:cNvSpPr/>
            <p:nvPr/>
          </p:nvSpPr>
          <p:spPr>
            <a:xfrm>
              <a:off x="9662172" y="1779786"/>
              <a:ext cx="756000" cy="252000"/>
            </a:xfrm>
            <a:prstGeom prst="roundRect">
              <a:avLst/>
            </a:prstGeom>
            <a:solidFill>
              <a:srgbClr val="FDEC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E" sz="9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24F43217-873D-797F-5384-3F357E75AE2C}"/>
                </a:ext>
              </a:extLst>
            </p:cNvPr>
            <p:cNvSpPr/>
            <p:nvPr/>
          </p:nvSpPr>
          <p:spPr>
            <a:xfrm>
              <a:off x="9641090" y="1810213"/>
              <a:ext cx="828000" cy="216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900" b="1" dirty="0">
                  <a:solidFill>
                    <a:srgbClr val="FDB60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Costo medio</a:t>
              </a:r>
              <a:endParaRPr lang="es-PE" sz="900" dirty="0">
                <a:solidFill>
                  <a:srgbClr val="FDB60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D296E7AF-945D-F438-7E09-CA01C3943978}"/>
              </a:ext>
            </a:extLst>
          </p:cNvPr>
          <p:cNvGrpSpPr/>
          <p:nvPr/>
        </p:nvGrpSpPr>
        <p:grpSpPr>
          <a:xfrm>
            <a:off x="9723208" y="5317047"/>
            <a:ext cx="936000" cy="252000"/>
            <a:chOff x="9583336" y="1779786"/>
            <a:chExt cx="936000" cy="252000"/>
          </a:xfrm>
        </p:grpSpPr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F98EF8C1-2E5D-D9AC-EF44-45EA78089859}"/>
                </a:ext>
              </a:extLst>
            </p:cNvPr>
            <p:cNvSpPr/>
            <p:nvPr/>
          </p:nvSpPr>
          <p:spPr>
            <a:xfrm>
              <a:off x="9662172" y="1779786"/>
              <a:ext cx="756000" cy="252000"/>
            </a:xfrm>
            <a:prstGeom prst="roundRect">
              <a:avLst/>
            </a:prstGeom>
            <a:solidFill>
              <a:srgbClr val="FDDC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E" sz="90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ángulo: esquinas redondeadas 55">
              <a:extLst>
                <a:ext uri="{FF2B5EF4-FFF2-40B4-BE49-F238E27FC236}">
                  <a16:creationId xmlns:a16="http://schemas.microsoft.com/office/drawing/2014/main" id="{2EAF8EF2-584D-B339-FD14-A7B684CB6E1B}"/>
                </a:ext>
              </a:extLst>
            </p:cNvPr>
            <p:cNvSpPr/>
            <p:nvPr/>
          </p:nvSpPr>
          <p:spPr>
            <a:xfrm>
              <a:off x="9583336" y="1800585"/>
              <a:ext cx="936000" cy="216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900" b="1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Muy alto costo</a:t>
              </a:r>
              <a:endParaRPr lang="es-PE" sz="9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9" name="Imagen 58">
            <a:extLst>
              <a:ext uri="{FF2B5EF4-FFF2-40B4-BE49-F238E27FC236}">
                <a16:creationId xmlns:a16="http://schemas.microsoft.com/office/drawing/2014/main" id="{E232313E-BDB6-A937-8230-729C3C097E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8295" y="3171339"/>
            <a:ext cx="1035103" cy="838243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77EEB9F1-FDEC-0187-917B-BEBF03607A38}"/>
              </a:ext>
            </a:extLst>
          </p:cNvPr>
          <p:cNvGrpSpPr/>
          <p:nvPr/>
        </p:nvGrpSpPr>
        <p:grpSpPr>
          <a:xfrm>
            <a:off x="9423376" y="3936531"/>
            <a:ext cx="756668" cy="252000"/>
            <a:chOff x="9662172" y="1779786"/>
            <a:chExt cx="756668" cy="252000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24170417-9D7D-01F0-421C-4709F2C8DAE8}"/>
                </a:ext>
              </a:extLst>
            </p:cNvPr>
            <p:cNvSpPr/>
            <p:nvPr/>
          </p:nvSpPr>
          <p:spPr>
            <a:xfrm>
              <a:off x="9662172" y="1779786"/>
              <a:ext cx="756000" cy="252000"/>
            </a:xfrm>
            <a:prstGeom prst="roundRect">
              <a:avLst/>
            </a:prstGeom>
            <a:solidFill>
              <a:srgbClr val="FEEC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E" sz="9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A10EB87D-1D75-F5E2-F9A8-E825EE27B64F}"/>
                </a:ext>
              </a:extLst>
            </p:cNvPr>
            <p:cNvSpPr/>
            <p:nvPr/>
          </p:nvSpPr>
          <p:spPr>
            <a:xfrm>
              <a:off x="9698840" y="1800586"/>
              <a:ext cx="720000" cy="216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E" sz="900" b="1" dirty="0">
                  <a:solidFill>
                    <a:schemeClr val="accent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Alto costo</a:t>
              </a:r>
              <a:endParaRPr lang="es-PE" sz="9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910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6A53-258D-0D1E-92C2-74F38EF1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C679F316-2309-7C23-4279-520166F9AC7D}"/>
              </a:ext>
            </a:extLst>
          </p:cNvPr>
          <p:cNvSpPr/>
          <p:nvPr/>
        </p:nvSpPr>
        <p:spPr>
          <a:xfrm>
            <a:off x="6040750" y="1730026"/>
            <a:ext cx="5636900" cy="39521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E">
              <a:solidFill>
                <a:schemeClr val="tx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DCF25C-E3CC-2720-110C-C575A2E700F6}"/>
              </a:ext>
            </a:extLst>
          </p:cNvPr>
          <p:cNvSpPr txBox="1"/>
          <p:nvPr/>
        </p:nvSpPr>
        <p:spPr>
          <a:xfrm>
            <a:off x="317440" y="373545"/>
            <a:ext cx="1178976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Estrategia previas:</a:t>
            </a:r>
          </a:p>
          <a:p>
            <a:r>
              <a:rPr lang="es-PE" sz="37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pilotos exitosos en lo digital pero falta escalar con la IA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B1F5677-5A03-7BB7-B1C2-C8B9BC7147E6}"/>
              </a:ext>
            </a:extLst>
          </p:cNvPr>
          <p:cNvCxnSpPr>
            <a:cxnSpLocks/>
          </p:cNvCxnSpPr>
          <p:nvPr/>
        </p:nvCxnSpPr>
        <p:spPr>
          <a:xfrm>
            <a:off x="408609" y="1748196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228F417-C29A-61AA-1FC5-CFD78218AF66}"/>
              </a:ext>
            </a:extLst>
          </p:cNvPr>
          <p:cNvSpPr txBox="1"/>
          <p:nvPr/>
        </p:nvSpPr>
        <p:spPr>
          <a:xfrm>
            <a:off x="6885132" y="1862601"/>
            <a:ext cx="3878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Contacto vs pagos </a:t>
            </a:r>
            <a:r>
              <a:rPr lang="es-PE" sz="16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(gap de eficiencia)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8565AC39-3D35-D761-7FCA-45E7997B5252}"/>
              </a:ext>
            </a:extLst>
          </p:cNvPr>
          <p:cNvCxnSpPr/>
          <p:nvPr/>
        </p:nvCxnSpPr>
        <p:spPr>
          <a:xfrm>
            <a:off x="6972991" y="2208363"/>
            <a:ext cx="720000" cy="0"/>
          </a:xfrm>
          <a:prstGeom prst="line">
            <a:avLst/>
          </a:prstGeom>
          <a:ln w="22225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9CF63F41-71F6-1D7F-8A1A-552154DB5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0" y="2544305"/>
            <a:ext cx="4838949" cy="29211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2351B7-8E08-B03E-AE0B-14C1C3EEA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07" y="1862601"/>
            <a:ext cx="495325" cy="4445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FB81691-BF39-3F87-7284-D975DF294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609" y="2038047"/>
            <a:ext cx="654084" cy="65408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C982D73-2FA4-0EF1-343A-B0F9D8775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609" y="3078835"/>
            <a:ext cx="666784" cy="61598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73190C29-90F3-7818-21A1-99D9A2F9D8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09" y="4081521"/>
            <a:ext cx="647733" cy="60963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9E4103B-901C-D89A-3E4F-256B051634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909" y="5077855"/>
            <a:ext cx="615982" cy="596931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236B669E-99C1-1326-175A-5FBEBF17C365}"/>
              </a:ext>
            </a:extLst>
          </p:cNvPr>
          <p:cNvSpPr txBox="1"/>
          <p:nvPr/>
        </p:nvSpPr>
        <p:spPr>
          <a:xfrm>
            <a:off x="1291801" y="2068505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Segmentación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recientemente actualizada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C040881-2BDD-C705-F8F7-32579A33DFFD}"/>
              </a:ext>
            </a:extLst>
          </p:cNvPr>
          <p:cNvSpPr txBox="1"/>
          <p:nvPr/>
        </p:nvSpPr>
        <p:spPr>
          <a:xfrm>
            <a:off x="1291801" y="3071164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Pilotos digitales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 buenos resultados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F7913FF-2460-CCF1-9723-84912FCD27F1}"/>
              </a:ext>
            </a:extLst>
          </p:cNvPr>
          <p:cNvSpPr txBox="1"/>
          <p:nvPr/>
        </p:nvSpPr>
        <p:spPr>
          <a:xfrm>
            <a:off x="1291801" y="4097499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Estrategias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tramo de mora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1F91C94-7C30-9888-7E32-06F42D3F3B19}"/>
              </a:ext>
            </a:extLst>
          </p:cNvPr>
          <p:cNvSpPr txBox="1"/>
          <p:nvPr/>
        </p:nvSpPr>
        <p:spPr>
          <a:xfrm>
            <a:off x="1291801" y="5083934"/>
            <a:ext cx="2686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de optimización</a:t>
            </a:r>
          </a:p>
          <a:p>
            <a:r>
              <a:rPr lang="es-P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dinámica por cliente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F8AC52A-28B1-968F-C717-76EA4FB464D6}"/>
              </a:ext>
            </a:extLst>
          </p:cNvPr>
          <p:cNvCxnSpPr>
            <a:cxnSpLocks/>
          </p:cNvCxnSpPr>
          <p:nvPr/>
        </p:nvCxnSpPr>
        <p:spPr>
          <a:xfrm>
            <a:off x="317440" y="2803932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9572628C-8494-F55E-45EC-6E01EBE55CAD}"/>
              </a:ext>
            </a:extLst>
          </p:cNvPr>
          <p:cNvCxnSpPr>
            <a:cxnSpLocks/>
          </p:cNvCxnSpPr>
          <p:nvPr/>
        </p:nvCxnSpPr>
        <p:spPr>
          <a:xfrm>
            <a:off x="317440" y="3899307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73A8190-CB3C-3597-2ED7-0B6E4E509C21}"/>
              </a:ext>
            </a:extLst>
          </p:cNvPr>
          <p:cNvCxnSpPr>
            <a:cxnSpLocks/>
          </p:cNvCxnSpPr>
          <p:nvPr/>
        </p:nvCxnSpPr>
        <p:spPr>
          <a:xfrm>
            <a:off x="317440" y="4880382"/>
            <a:ext cx="4032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0763C60-9DC3-2A50-62A0-D1075B85B630}"/>
              </a:ext>
            </a:extLst>
          </p:cNvPr>
          <p:cNvSpPr txBox="1"/>
          <p:nvPr/>
        </p:nvSpPr>
        <p:spPr>
          <a:xfrm>
            <a:off x="3548391" y="5973736"/>
            <a:ext cx="1800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Siguiente </a:t>
            </a:r>
          </a:p>
          <a:p>
            <a:r>
              <a:rPr lang="es-PE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paso:</a:t>
            </a:r>
            <a:endParaRPr lang="es-P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425A83F6-06AB-36C4-B233-B502FEDA56D3}"/>
              </a:ext>
            </a:extLst>
          </p:cNvPr>
          <p:cNvSpPr/>
          <p:nvPr/>
        </p:nvSpPr>
        <p:spPr>
          <a:xfrm>
            <a:off x="2474952" y="5871410"/>
            <a:ext cx="7131595" cy="848820"/>
          </a:xfrm>
          <a:prstGeom prst="roundRect">
            <a:avLst/>
          </a:prstGeom>
          <a:noFill/>
          <a:ln w="12700">
            <a:solidFill>
              <a:srgbClr val="0090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6B113D27-329B-3B10-9C5B-7155B30A6E71}"/>
              </a:ext>
            </a:extLst>
          </p:cNvPr>
          <p:cNvCxnSpPr>
            <a:cxnSpLocks/>
          </p:cNvCxnSpPr>
          <p:nvPr/>
        </p:nvCxnSpPr>
        <p:spPr>
          <a:xfrm>
            <a:off x="3424203" y="6006977"/>
            <a:ext cx="0" cy="540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DAE7232-1079-AA46-B1A2-5D635D0ABD3F}"/>
              </a:ext>
            </a:extLst>
          </p:cNvPr>
          <p:cNvSpPr txBox="1"/>
          <p:nvPr/>
        </p:nvSpPr>
        <p:spPr>
          <a:xfrm>
            <a:off x="4986113" y="5973736"/>
            <a:ext cx="3093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Escalar con IA para cerrar gap y aumentar pagos</a:t>
            </a: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D2C04CF4-BBBC-9C38-20D3-13B81D77E9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7039" y="6010055"/>
            <a:ext cx="647733" cy="571529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97F10186-3320-34C3-4FC4-1C42CDBE6C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4585" y="6002306"/>
            <a:ext cx="596931" cy="520727"/>
          </a:xfrm>
          <a:prstGeom prst="rect">
            <a:avLst/>
          </a:prstGeom>
        </p:spPr>
      </p:pic>
      <p:pic>
        <p:nvPicPr>
          <p:cNvPr id="37" name="Picture 2" descr="Logo mibanco peru PNG HD Vector - Descarga Rápida">
            <a:extLst>
              <a:ext uri="{FF2B5EF4-FFF2-40B4-BE49-F238E27FC236}">
                <a16:creationId xmlns:a16="http://schemas.microsoft.com/office/drawing/2014/main" id="{CB189047-00BD-AFBD-6A64-C4AA984BD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83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9A6B6A6-CF27-CCE1-5B9E-6FF76F729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94" y="2042985"/>
            <a:ext cx="4134062" cy="429282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D5523F9-51D4-BA16-4F68-81F8E7677C73}"/>
              </a:ext>
            </a:extLst>
          </p:cNvPr>
          <p:cNvSpPr txBox="1"/>
          <p:nvPr/>
        </p:nvSpPr>
        <p:spPr>
          <a:xfrm>
            <a:off x="317440" y="373545"/>
            <a:ext cx="1178976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Restricciones:</a:t>
            </a:r>
          </a:p>
          <a:p>
            <a:r>
              <a:rPr lang="es-PE" sz="3700" b="1" dirty="0">
                <a:solidFill>
                  <a:srgbClr val="0090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solución debe ser aplicable en el negocio real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20A0988-CBDC-D9AA-0686-736831D15795}"/>
              </a:ext>
            </a:extLst>
          </p:cNvPr>
          <p:cNvCxnSpPr>
            <a:cxnSpLocks/>
          </p:cNvCxnSpPr>
          <p:nvPr/>
        </p:nvCxnSpPr>
        <p:spPr>
          <a:xfrm>
            <a:off x="408609" y="1748196"/>
            <a:ext cx="1080000" cy="0"/>
          </a:xfrm>
          <a:prstGeom prst="line">
            <a:avLst/>
          </a:prstGeom>
          <a:ln w="38100">
            <a:solidFill>
              <a:srgbClr val="0090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Logo mibanco peru PNG HD Vector - Descarga Rápida">
            <a:extLst>
              <a:ext uri="{FF2B5EF4-FFF2-40B4-BE49-F238E27FC236}">
                <a16:creationId xmlns:a16="http://schemas.microsoft.com/office/drawing/2014/main" id="{E200CC8A-45AF-E3C7-F171-F8AF2DA32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604" y="191393"/>
            <a:ext cx="947767" cy="49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3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1C83-AC98-DDDC-186F-BA69ACC5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207A53E-4EFE-5B30-46AF-23FD449F4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6517" y="2885955"/>
            <a:ext cx="5163767" cy="769691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rgbClr val="00B050"/>
                </a:solidFill>
              </a:rPr>
              <a:t>Gracias!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D1B5D1E-25A3-E71D-03E9-FE0DF5E60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988310">
            <a:off x="2708898" y="2821358"/>
            <a:ext cx="796519" cy="426440"/>
          </a:xfrm>
          <a:prstGeom prst="rect">
            <a:avLst/>
          </a:prstGeom>
        </p:spPr>
      </p:pic>
      <p:pic>
        <p:nvPicPr>
          <p:cNvPr id="2" name="Gráfico 5">
            <a:extLst>
              <a:ext uri="{FF2B5EF4-FFF2-40B4-BE49-F238E27FC236}">
                <a16:creationId xmlns:a16="http://schemas.microsoft.com/office/drawing/2014/main" id="{8EA33E65-328A-62D5-2F0B-87E398376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881" y="5480264"/>
            <a:ext cx="1844932" cy="12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0759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db8eb94-00a5-42b3-a1b0-429086455cb4}" enabled="0" method="" siteId="{8db8eb94-00a5-42b3-a1b0-429086455cb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520</Words>
  <Application>Microsoft Office PowerPoint</Application>
  <PresentationFormat>Panorámica</PresentationFormat>
  <Paragraphs>123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Brevia Bold</vt:lpstr>
      <vt:lpstr>Brevia Medium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Gracias!</vt:lpstr>
    </vt:vector>
  </TitlesOfParts>
  <Company>Mi Banco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Augusto Cabrera Palomino</dc:creator>
  <cp:lastModifiedBy>Caraza Lozano Yanira Katherin</cp:lastModifiedBy>
  <cp:revision>4</cp:revision>
  <dcterms:created xsi:type="dcterms:W3CDTF">2026-06-17T01:41:37Z</dcterms:created>
  <dcterms:modified xsi:type="dcterms:W3CDTF">2026-06-18T22:42:32Z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riptosClassAi">
    <vt:lpwstr>1-Uso Interno</vt:lpwstr>
  </property>
</Properties>
</file>